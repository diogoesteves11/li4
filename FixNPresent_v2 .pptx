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3" r:id="rId5"/>
    <p:sldId id="261" r:id="rId6"/>
    <p:sldId id="259" r:id="rId7"/>
    <p:sldId id="260" r:id="rId8"/>
    <p:sldId id="262" r:id="rId9"/>
    <p:sldId id="268" r:id="rId10"/>
    <p:sldId id="264" r:id="rId11"/>
    <p:sldId id="265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7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192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14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4.png"/><Relationship Id="rId10" Type="http://schemas.openxmlformats.org/officeDocument/2006/relationships/image" Target="../media/image21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977640" y="548640"/>
            <a:ext cx="1188720" cy="1188720"/>
          </a:xfrm>
          <a:prstGeom prst="ellipse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7772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92024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Fix'n'Ride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914400" y="2971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Gestão Integrada para Oficina de Micromobilidade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Diogo Esteves · Diogo Fernandes · Jorge Fernandes · Rodrigo Fernandes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Laboratórios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IV · Universidade do Minho · 2025/2026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2800" b="1" dirty="0">
                <a:solidFill>
                  <a:srgbClr val="FFFFFF"/>
                </a:solidFill>
                <a:latin typeface="Calibri" pitchFamily="34" charset="0"/>
              </a:rPr>
              <a:t>O Problema</a:t>
            </a:r>
          </a:p>
        </p:txBody>
      </p:sp>
      <p:sp>
        <p:nvSpPr>
          <p:cNvPr id="4" name="Shape 2"/>
          <p:cNvSpPr/>
          <p:nvPr/>
        </p:nvSpPr>
        <p:spPr>
          <a:xfrm>
            <a:off x="182592" y="860120"/>
            <a:ext cx="878112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9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pt-PT" sz="1200" dirty="0">
                <a:solidFill>
                  <a:srgbClr val="E2E8F0"/>
                </a:solidFill>
                <a:latin typeface="Calibri" pitchFamily="34" charset="0"/>
              </a:rPr>
              <a:t>A MobiFix opera numa oficina de trotinetes elétricas com processos totalmente manuais — folhas de cálculo, registos em papel e comunicação fragmentada — incapaz de escalar com a crescente procura.</a:t>
            </a:r>
          </a:p>
        </p:txBody>
      </p:sp>
      <p:sp>
        <p:nvSpPr>
          <p:cNvPr id="20" name="Shape Admin"/>
          <p:cNvSpPr/>
          <p:nvPr/>
        </p:nvSpPr>
        <p:spPr>
          <a:xfrm>
            <a:off x="18259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Admin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32" y="1880000"/>
            <a:ext cx="380880" cy="380880"/>
          </a:xfrm>
          <a:prstGeom prst="rect">
            <a:avLst/>
          </a:prstGeom>
        </p:spPr>
      </p:pic>
      <p:sp>
        <p:nvSpPr>
          <p:cNvPr id="22" name="Text Admin Label"/>
          <p:cNvSpPr/>
          <p:nvPr/>
        </p:nvSpPr>
        <p:spPr>
          <a:xfrm>
            <a:off x="27443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Administração</a:t>
            </a:r>
          </a:p>
        </p:txBody>
      </p:sp>
      <p:sp>
        <p:nvSpPr>
          <p:cNvPr id="23" name="Text Admin Desc"/>
          <p:cNvSpPr/>
          <p:nvPr/>
        </p:nvSpPr>
        <p:spPr>
          <a:xfrm>
            <a:off x="27443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Sem métricas em tempo real, sem controlo de stock, sem KPIs de rentabilidade.</a:t>
            </a:r>
          </a:p>
        </p:txBody>
      </p:sp>
      <p:sp>
        <p:nvSpPr>
          <p:cNvPr id="30" name="Shape Mec"/>
          <p:cNvSpPr/>
          <p:nvPr/>
        </p:nvSpPr>
        <p:spPr>
          <a:xfrm>
            <a:off x="242371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Mec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1152" y="1880000"/>
            <a:ext cx="380880" cy="380880"/>
          </a:xfrm>
          <a:prstGeom prst="rect">
            <a:avLst/>
          </a:prstGeom>
        </p:spPr>
      </p:pic>
      <p:sp>
        <p:nvSpPr>
          <p:cNvPr id="32" name="Text Mec Label"/>
          <p:cNvSpPr/>
          <p:nvPr/>
        </p:nvSpPr>
        <p:spPr>
          <a:xfrm>
            <a:off x="251555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Mecânicos</a:t>
            </a:r>
          </a:p>
        </p:txBody>
      </p:sp>
      <p:sp>
        <p:nvSpPr>
          <p:cNvPr id="33" name="Text Mec Desc"/>
          <p:cNvSpPr/>
          <p:nvPr/>
        </p:nvSpPr>
        <p:spPr>
          <a:xfrm>
            <a:off x="251555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Diagnósticos em papel, peças perdidas, faturação manual com erros frequentes.</a:t>
            </a:r>
          </a:p>
        </p:txBody>
      </p:sp>
      <p:sp>
        <p:nvSpPr>
          <p:cNvPr id="40" name="Shape Op"/>
          <p:cNvSpPr/>
          <p:nvPr/>
        </p:nvSpPr>
        <p:spPr>
          <a:xfrm>
            <a:off x="466483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Op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272" y="1880000"/>
            <a:ext cx="380880" cy="380880"/>
          </a:xfrm>
          <a:prstGeom prst="rect">
            <a:avLst/>
          </a:prstGeom>
        </p:spPr>
      </p:pic>
      <p:sp>
        <p:nvSpPr>
          <p:cNvPr id="42" name="Text Op Label"/>
          <p:cNvSpPr/>
          <p:nvPr/>
        </p:nvSpPr>
        <p:spPr>
          <a:xfrm>
            <a:off x="475667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Operador</a:t>
            </a:r>
          </a:p>
        </p:txBody>
      </p:sp>
      <p:sp>
        <p:nvSpPr>
          <p:cNvPr id="43" name="Text Op Desc"/>
          <p:cNvSpPr/>
          <p:nvPr/>
        </p:nvSpPr>
        <p:spPr>
          <a:xfrm>
            <a:off x="475667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Balcão manual, vendas sem registo digital, encomendas por email sem rastreio.</a:t>
            </a:r>
          </a:p>
        </p:txBody>
      </p:sp>
      <p:sp>
        <p:nvSpPr>
          <p:cNvPr id="50" name="Shape Cli"/>
          <p:cNvSpPr/>
          <p:nvPr/>
        </p:nvSpPr>
        <p:spPr>
          <a:xfrm>
            <a:off x="690595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1" name="Image Cli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3392" y="1880000"/>
            <a:ext cx="380880" cy="380880"/>
          </a:xfrm>
          <a:prstGeom prst="rect">
            <a:avLst/>
          </a:prstGeom>
        </p:spPr>
      </p:pic>
      <p:sp>
        <p:nvSpPr>
          <p:cNvPr id="52" name="Text Cli Label"/>
          <p:cNvSpPr/>
          <p:nvPr/>
        </p:nvSpPr>
        <p:spPr>
          <a:xfrm>
            <a:off x="699779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Clientes</a:t>
            </a:r>
          </a:p>
        </p:txBody>
      </p:sp>
      <p:sp>
        <p:nvSpPr>
          <p:cNvPr id="53" name="Text Cli Desc"/>
          <p:cNvSpPr/>
          <p:nvPr/>
        </p:nvSpPr>
        <p:spPr>
          <a:xfrm>
            <a:off x="699779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Sem visibilidade do estado da reparação, sem agendamento online, sem transparência.</a:t>
            </a:r>
          </a:p>
        </p:txBody>
      </p:sp>
      <p:sp>
        <p:nvSpPr>
          <p:cNvPr id="18" name="Shape 1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— Fix'n'Ride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multi-perfil que digitaliza e centraliza toda a operação da MobiFix — do agendamento à faturação.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85623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81328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1856232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81328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596896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2928" y="1856232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596896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3712464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8496" y="1856232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712464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83464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85800" y="2788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 online de diagnósticos</a:t>
            </a:r>
            <a:endParaRPr lang="en-US" sz="11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29184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85800" y="32461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intervenções com preços fixos</a:t>
            </a:r>
            <a:endParaRPr lang="en-US" sz="11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749040"/>
            <a:ext cx="256032" cy="25603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85800" y="37033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stock com alertas automáticos</a:t>
            </a:r>
            <a:endParaRPr lang="en-US" sz="11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2834640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3154680" y="2788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&amp; Collect de peças</a:t>
            </a:r>
            <a:endParaRPr lang="en-US" sz="115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291840"/>
            <a:ext cx="256032" cy="256032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3154680" y="32461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atómica com devoluções/notas de crédito</a:t>
            </a:r>
            <a:endParaRPr lang="en-US" sz="11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749040"/>
            <a:ext cx="256032" cy="256032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3154680" y="37033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financeiro com KPIs</a:t>
            </a:r>
            <a:endParaRPr lang="en-US" sz="1150" dirty="0"/>
          </a:p>
        </p:txBody>
      </p:sp>
      <p:sp>
        <p:nvSpPr>
          <p:cNvPr id="38" name="Shape 2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Picture 39" descr="A logo of a scooter&#10;&#10;AI-generated content may be incorrect.">
            <a:extLst>
              <a:ext uri="{FF2B5EF4-FFF2-40B4-BE49-F238E27FC236}">
                <a16:creationId xmlns:a16="http://schemas.microsoft.com/office/drawing/2014/main" id="{8DB3A38D-EE1D-A4B5-20B3-91178F5D7F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8112" y="896112"/>
            <a:ext cx="3367022" cy="32846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0953" y="18069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11479" y="1005840"/>
            <a:ext cx="301546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Conceção</a:t>
            </a: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entrevistas,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req.,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modelação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use cases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8745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</a:t>
            </a:r>
            <a:r>
              <a:rPr lang="en-US" sz="1200" b="1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Design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274294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chemeClr val="bg1"/>
                </a:solidFill>
              </a:rPr>
              <a:t>Especificação</a:t>
            </a:r>
            <a:r>
              <a:rPr lang="en-US" sz="1050" dirty="0">
                <a:solidFill>
                  <a:schemeClr val="bg1"/>
                </a:solidFill>
              </a:rPr>
              <a:t>, </a:t>
            </a:r>
            <a:r>
              <a:rPr lang="en-US" sz="1050" dirty="0" err="1">
                <a:solidFill>
                  <a:schemeClr val="bg1"/>
                </a:solidFill>
              </a:rPr>
              <a:t>Padrões</a:t>
            </a:r>
            <a:r>
              <a:rPr lang="en-US" sz="1050" dirty="0">
                <a:solidFill>
                  <a:schemeClr val="bg1"/>
                </a:solidFill>
              </a:rPr>
              <a:t> </a:t>
            </a:r>
            <a:r>
              <a:rPr lang="en-US" sz="1050" dirty="0" err="1">
                <a:solidFill>
                  <a:schemeClr val="bg1"/>
                </a:solidFill>
              </a:rPr>
              <a:t>Arquitetutais</a:t>
            </a:r>
            <a:r>
              <a:rPr lang="en-US" sz="1050" dirty="0">
                <a:solidFill>
                  <a:schemeClr val="bg1"/>
                </a:solidFill>
              </a:rPr>
              <a:t>, </a:t>
            </a:r>
            <a:r>
              <a:rPr lang="en-US" sz="1050" dirty="0" err="1">
                <a:solidFill>
                  <a:schemeClr val="bg1"/>
                </a:solidFill>
              </a:rPr>
              <a:t>Modelação</a:t>
            </a:r>
            <a:r>
              <a:rPr lang="en-US" sz="1050" dirty="0">
                <a:solidFill>
                  <a:schemeClr val="bg1"/>
                </a:solidFill>
              </a:rPr>
              <a:t> UML e </a:t>
            </a:r>
            <a:r>
              <a:rPr lang="en-US" sz="1050" dirty="0" err="1">
                <a:solidFill>
                  <a:schemeClr val="bg1"/>
                </a:solidFill>
              </a:rPr>
              <a:t>Prototipagem</a:t>
            </a:r>
            <a:r>
              <a:rPr lang="en-US" sz="105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2" name="Shape 10"/>
          <p:cNvSpPr/>
          <p:nvPr/>
        </p:nvSpPr>
        <p:spPr>
          <a:xfrm>
            <a:off x="274320" y="27889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834640"/>
            <a:ext cx="293273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</a:t>
            </a: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</a:t>
            </a: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3218688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Mongoose, services .NET, componentes React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7033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79" y="3749040"/>
            <a:ext cx="37980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4: Verificação,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7443" y="4116982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cases, sugestões de teste, code smells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349240" y="960120"/>
            <a:ext cx="3520440" cy="1463040"/>
          </a:xfrm>
          <a:prstGeom prst="rect">
            <a:avLst/>
          </a:prstGeom>
          <a:solidFill>
            <a:srgbClr val="1E3A5F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51560"/>
            <a:ext cx="548640" cy="548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172200" y="102412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40–50%</a:t>
            </a:r>
            <a:endParaRPr lang="en-US" sz="3800" dirty="0"/>
          </a:p>
        </p:txBody>
      </p:sp>
      <p:sp>
        <p:nvSpPr>
          <p:cNvPr id="23" name="Text 20"/>
          <p:cNvSpPr/>
          <p:nvPr/>
        </p:nvSpPr>
        <p:spPr>
          <a:xfrm>
            <a:off x="5440680" y="16459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tempo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estimada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graças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LLMs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49240" y="2514600"/>
            <a:ext cx="352044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440680" y="25603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Smells Identificados</a:t>
            </a:r>
            <a:endParaRPr lang="en-US" sz="12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2953512"/>
            <a:ext cx="228600" cy="2286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742432" y="2926080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parseJwt duplicado (×5 componentes)</a:t>
            </a:r>
            <a:endParaRPr lang="en-US" sz="10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7771" y="3438144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715000" y="343336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alert() nativo em vez de toasts</a:t>
            </a:r>
            <a:endParaRPr lang="en-US" sz="105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922776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715000" y="389534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Mapeamentos defensivos excessivos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de Requisitos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9669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887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Funcionais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96596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200253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Não Funcionais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300837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88720" y="31546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97764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401421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188720" y="41605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26080" y="960120"/>
            <a:ext cx="27432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17520" y="10058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Levantamento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Questionários (formato livre)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0" y="176479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Observação Direta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211226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Entrevistas Estruturadas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26080" y="2834640"/>
            <a:ext cx="27432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017520" y="2880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UML Produzidos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2918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Modelo de Domínio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584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Diagramas de Casos de Uso 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17520" y="387705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Diagramas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17520" y="4169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Máquinas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960120"/>
            <a:ext cx="288036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35040" y="10058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30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55448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537960" y="146304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37960" y="17647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ROI, encomendas</a:t>
            </a:r>
            <a:endParaRPr lang="en-US" sz="10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313432"/>
            <a:ext cx="320040" cy="32004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537960" y="2221992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Mecânicos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537960" y="252374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Diagnóstico, reparações</a:t>
            </a:r>
            <a:endParaRPr lang="en-US" sz="1000" dirty="0"/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072384"/>
            <a:ext cx="320040" cy="32004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537960" y="298094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537960" y="328269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Balcão, vendas, entregas</a:t>
            </a:r>
            <a:endParaRPr lang="en-US" sz="1000" dirty="0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831336"/>
            <a:ext cx="320040" cy="32004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6537960" y="3739896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6537960" y="404164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Agendamento, rastreio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332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058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React + TanStack Query + Tailwind CSS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719072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8366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185623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Negócios — ASP.NET Core (.NET 8) + JWT + BCrypt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65760" y="2560320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2491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26974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— Node.js / Express + Mongoose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65760" y="3401568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66160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53872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— MongoDB + Docker Volume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246120" y="1554480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3246120" y="2404872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3246120" y="3255264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766560" y="868680"/>
            <a:ext cx="2011680" cy="32186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6858000" y="9144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Chave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858000" y="1325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Separação física LN / Data API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858000" y="16733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MongoDB vs. SQL Server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858000" y="202082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contentores Docker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858000" y="236829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RBAC com JWT claims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858000" y="27157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HttpClient tipado .NET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858000" y="3063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TanStack Query cache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93392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9172" y="11430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039112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039112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/ Schema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712464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8244" y="114300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58184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758184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431536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316" y="114300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77256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477256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Negócios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150608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6388" y="114300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196328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7196328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74320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301752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20040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320040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1993392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19172" y="301752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2039112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2039112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Estilização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3712464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8244" y="301752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758184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3758184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5431536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7316" y="3017520"/>
            <a:ext cx="502920" cy="50292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5477256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5477256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950" dirty="0"/>
          </a:p>
        </p:txBody>
      </p:sp>
      <p:sp>
        <p:nvSpPr>
          <p:cNvPr id="40" name="Shape 29"/>
          <p:cNvSpPr/>
          <p:nvPr/>
        </p:nvSpPr>
        <p:spPr>
          <a:xfrm>
            <a:off x="7150608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76388" y="3017520"/>
            <a:ext cx="502920" cy="50292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7196328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100" dirty="0"/>
          </a:p>
        </p:txBody>
      </p:sp>
      <p:sp>
        <p:nvSpPr>
          <p:cNvPr id="43" name="Text 31"/>
          <p:cNvSpPr/>
          <p:nvPr/>
        </p:nvSpPr>
        <p:spPr>
          <a:xfrm>
            <a:off x="7196328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/ Stress</a:t>
            </a:r>
            <a:endParaRPr lang="en-US" sz="950" dirty="0"/>
          </a:p>
        </p:txBody>
      </p:sp>
      <p:sp>
        <p:nvSpPr>
          <p:cNvPr id="44" name="Shape 3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Controlo de Acessos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NIF/Nº Mecan.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993392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93392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993392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hash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64992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12464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12464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HMAC-SHA256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4064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31536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31536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31536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31536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por cargo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03136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150608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150608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50608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50608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8h, logout limpa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2514600"/>
            <a:ext cx="85953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8600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Permissões Principais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2907792"/>
            <a:ext cx="8595360" cy="39319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28600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/FixNRide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294436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Agendamento, faturas, catálogo, Click &amp; Collect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4320" y="3319272"/>
            <a:ext cx="8595360" cy="3931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65760" y="3355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286000" y="3355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/FixNSell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558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Vendas, entregas, encomendas, faturação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3730752"/>
            <a:ext cx="8595360" cy="39319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37673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286000" y="37673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/FixNRepair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54880" y="37673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Agenda, diagnósticos, peças, estado serviços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74320" y="4142232"/>
            <a:ext cx="8595360" cy="3931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6576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28600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/FixNManage + tudo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754880" y="417880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total: utilizadores, stock, KPIs, promoções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 - IA Dev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182880"/>
            <a:ext cx="82296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2800" b="1" dirty="0">
                <a:solidFill>
                  <a:srgbClr val="FFFFFF"/>
                </a:solidFill>
                <a:latin typeface="Calibri" pitchFamily="34" charset="0"/>
              </a:rPr>
              <a:t>Desenvolvimento com Recurso a IA</a:t>
            </a:r>
          </a:p>
        </p:txBody>
      </p:sp>
      <p:sp>
        <p:nvSpPr>
          <p:cNvPr id="4" name="Ref"/>
          <p:cNvSpPr/>
          <p:nvPr/>
        </p:nvSpPr>
        <p:spPr>
          <a:xfrm>
            <a:off x="457200" y="720000"/>
            <a:ext cx="82296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000" i="1" dirty="0">
                <a:solidFill>
                  <a:srgbClr val="64748B"/>
                </a:solidFill>
                <a:latin typeface="Calibri" pitchFamily="34" charset="0"/>
              </a:rPr>
              <a:t>Cap. 8 do Relatório — Geração de Código com Recurso a Inteligência Artificial</a:t>
            </a:r>
          </a:p>
        </p:txBody>
      </p:sp>
      <p:sp>
        <p:nvSpPr>
          <p:cNvPr id="10" name="Left Card"/>
          <p:cNvSpPr/>
          <p:nvPr/>
        </p:nvSpPr>
        <p:spPr>
          <a:xfrm>
            <a:off x="274320" y="1090000"/>
            <a:ext cx="4114800" cy="360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Left Title Bar"/>
          <p:cNvSpPr/>
          <p:nvPr/>
        </p:nvSpPr>
        <p:spPr>
          <a:xfrm>
            <a:off x="274320" y="1090000"/>
            <a:ext cx="4114800" cy="54864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Left Card Content"/>
          <p:cNvSpPr/>
          <p:nvPr/>
        </p:nvSpPr>
        <p:spPr>
          <a:xfrm>
            <a:off x="411480" y="1160000"/>
            <a:ext cx="3840480" cy="34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rgbClr val="0EA5E9"/>
                </a:solidFill>
                <a:latin typeface="Calibri" pitchFamily="34" charset="0"/>
              </a:rPr>
              <a:t>Modelo e Estratégia</a:t>
            </a:r>
          </a:p>
          <a:p>
            <a:pPr marL="0" indent="0">
              <a:buNone/>
            </a:pPr>
            <a:r>
              <a:rPr lang="pt-PT" sz="1050" dirty="0">
                <a:solidFill>
                  <a:srgbClr val="E2E8F0"/>
                </a:solidFill>
                <a:latin typeface="Calibri" pitchFamily="34" charset="0"/>
              </a:rPr>
              <a:t>Claude Sonnet 4.6 (Anthropic) via Claude Code (VS Code)</a:t>
            </a:r>
          </a:p>
          <a:p>
            <a:pPr marL="0" indent="0">
              <a:buNone/>
            </a:pPr>
            <a:endParaRPr lang="pt-PT" sz="105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Fragmentação por Sessões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Sessões isoladas por microsserviço para evitar degradação da janela de contexto. Cada sessão iniciada com system brief estruturado (arquitetura + Schemas + endpoints + regras de negócio).</a:t>
            </a:r>
          </a:p>
          <a:p>
            <a:pPr marL="0" indent="0">
              <a:buNone/>
            </a:pPr>
            <a:endParaRPr lang="pt-PT" sz="100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Taxonomia de 3 Tipos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Sessões de camada • Sessões de módulo • Sessões de correção cirúrgica</a:t>
            </a:r>
          </a:p>
          <a:p>
            <a:pPr marL="0" indent="0">
              <a:buNone/>
            </a:pPr>
            <a:endParaRPr lang="pt-PT" sz="100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Cobertura por Camada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Schemas Mongoose • Controllers Node.js • Services .NET • Componentes React + TanStack Query</a:t>
            </a:r>
          </a:p>
        </p:txBody>
      </p:sp>
      <p:sp>
        <p:nvSpPr>
          <p:cNvPr id="20" name="Right Card"/>
          <p:cNvSpPr/>
          <p:nvPr/>
        </p:nvSpPr>
        <p:spPr>
          <a:xfrm>
            <a:off x="4754880" y="1090000"/>
            <a:ext cx="4114800" cy="360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Right Title Bar"/>
          <p:cNvSpPr/>
          <p:nvPr/>
        </p:nvSpPr>
        <p:spPr>
          <a:xfrm>
            <a:off x="4754880" y="1090000"/>
            <a:ext cx="4114800" cy="54864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Right Card Content"/>
          <p:cNvSpPr/>
          <p:nvPr/>
        </p:nvSpPr>
        <p:spPr>
          <a:xfrm>
            <a:off x="4892040" y="1160000"/>
            <a:ext cx="3840480" cy="34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rgbClr val="6366F1"/>
                </a:solidFill>
                <a:latin typeface="Calibri" pitchFamily="34" charset="0"/>
              </a:rPr>
              <a:t>Análise Crítica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22C55E"/>
                </a:solidFill>
                <a:latin typeface="Calibri" pitchFamily="34" charset="0"/>
              </a:rPr>
              <a:t>✓ Vantagens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Redução de 40–50% no tempo de implementação por camada. Código de qualidade estrutural consistente. Transferência implícita de conhecimento. Deteção proativa de lacunas de especificação.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EF4444"/>
                </a:solidFill>
                <a:latin typeface="Calibri" pitchFamily="34" charset="0"/>
              </a:rPr>
              <a:t>✗ Limitações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Dependência da qualidade do prompt. Riscos de alucinações (código plausível mas incorreto). Tendência para soluções genéricas. Sem visão sistémica entre sessões.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F59E0B"/>
                </a:solidFill>
                <a:latin typeface="Calibri" pitchFamily="34" charset="0"/>
              </a:rPr>
              <a:t>ⓘ Code Smells Detetados</a:t>
            </a:r>
          </a:p>
          <a:p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</a:t>
            </a:r>
            <a:r>
              <a:rPr lang="pt-PT" sz="1000" dirty="0" err="1">
                <a:solidFill>
                  <a:srgbClr val="94A3B8"/>
                </a:solidFill>
                <a:latin typeface="Calibri" pitchFamily="34" charset="0"/>
              </a:rPr>
              <a:t>parseJwt</a:t>
            </a: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 duplicado (×5) 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alert() nativo em vez de toasts 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mapeamentos defensivos excessivos</a:t>
            </a:r>
          </a:p>
        </p:txBody>
      </p:sp>
      <p:sp>
        <p:nvSpPr>
          <p:cNvPr id="30" name="Quote"/>
          <p:cNvSpPr/>
          <p:nvPr/>
        </p:nvSpPr>
        <p:spPr>
          <a:xfrm>
            <a:off x="274320" y="4790000"/>
            <a:ext cx="8595360" cy="2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000" i="1" dirty="0">
                <a:solidFill>
                  <a:srgbClr val="64748B"/>
                </a:solidFill>
                <a:latin typeface="Calibri" pitchFamily="34" charset="0"/>
              </a:rPr>
              <a:t>“A IA funcionou como amplificador de capacidade — não como substituto do engenheiro de software.”</a:t>
            </a:r>
          </a:p>
        </p:txBody>
      </p:sp>
      <p:sp>
        <p:nvSpPr>
          <p:cNvPr id="31" name="BottomBar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Verificação, Validação &amp; Qualidade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9377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65760" y="950976"/>
            <a:ext cx="4754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Testes de Stress — Postman Performance – API de dados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493776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28930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128930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48840" y="128930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852928" y="128930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66160" y="128930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61688" y="128930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1627632"/>
            <a:ext cx="493776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165506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Base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27632" y="165506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48840" y="165506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4ms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52928" y="165506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165506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11ms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61688" y="165506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1993392"/>
            <a:ext cx="4937760" cy="34747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202082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Moderada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27632" y="202082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202082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16ms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52928" y="202082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19ms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66160" y="202082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31ms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61688" y="202082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2359152"/>
            <a:ext cx="493776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74320" y="238658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Pico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27632" y="238658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48840" y="238658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39ms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52928" y="238658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46ms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238658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76ms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38658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2761488"/>
            <a:ext cx="49377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2798064"/>
            <a:ext cx="4754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ISO/IEC 25010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1546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Funcional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947672" y="315468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040" y="353872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947672" y="3538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040" y="3922776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Manutenibilidade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947672" y="392277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20040" y="4306824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947672" y="430682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926080" y="31546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53712" y="315468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Adequada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26080" y="353872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53712" y="3538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Moderada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2926080" y="3922776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53712" y="392277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Suf. Dev.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486400" y="914400"/>
            <a:ext cx="3337560" cy="4069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577840" y="9601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Testes</a:t>
            </a:r>
            <a:endParaRPr lang="en-US" sz="1300" dirty="0"/>
          </a:p>
        </p:txBody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371600"/>
            <a:ext cx="256032" cy="256032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5961888" y="13441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(Postman)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5961888" y="1600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completa</a:t>
            </a:r>
            <a:endParaRPr lang="en-US" sz="1000" dirty="0"/>
          </a:p>
        </p:txBody>
      </p:sp>
      <p:pic>
        <p:nvPicPr>
          <p:cNvPr id="5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901952"/>
            <a:ext cx="256032" cy="256032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5961888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(Manual)</a:t>
            </a:r>
            <a:endParaRPr lang="en-US" sz="1100" dirty="0"/>
          </a:p>
        </p:txBody>
      </p:sp>
      <p:sp>
        <p:nvSpPr>
          <p:cNvPr id="57" name="Text 53"/>
          <p:cNvSpPr/>
          <p:nvPr/>
        </p:nvSpPr>
        <p:spPr>
          <a:xfrm>
            <a:off x="5961888" y="21305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perfis</a:t>
            </a:r>
            <a:endParaRPr lang="en-US" sz="1000" dirty="0"/>
          </a:p>
        </p:txBody>
      </p:sp>
      <p:pic>
        <p:nvPicPr>
          <p:cNvPr id="5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432304"/>
            <a:ext cx="256032" cy="256032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5961888" y="24048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Aceitação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5961888" y="266090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casos de teste</a:t>
            </a:r>
            <a:endParaRPr lang="en-US" sz="1000" dirty="0"/>
          </a:p>
        </p:txBody>
      </p:sp>
      <p:pic>
        <p:nvPicPr>
          <p:cNvPr id="6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962656"/>
            <a:ext cx="256032" cy="256032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961888" y="2935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(Postman Perf.)</a:t>
            </a:r>
            <a:endParaRPr lang="en-US" sz="1100" dirty="0"/>
          </a:p>
        </p:txBody>
      </p:sp>
      <p:sp>
        <p:nvSpPr>
          <p:cNvPr id="63" name="Text 57"/>
          <p:cNvSpPr/>
          <p:nvPr/>
        </p:nvSpPr>
        <p:spPr>
          <a:xfrm>
            <a:off x="5961888" y="319125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 20, 50 VUs</a:t>
            </a:r>
            <a:endParaRPr lang="en-US" sz="1000" dirty="0"/>
          </a:p>
        </p:txBody>
      </p:sp>
      <p:sp>
        <p:nvSpPr>
          <p:cNvPr id="67" name="Shape 6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&amp; Trabalho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5097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Objetivos Cumpridos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316736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2984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requisitos funcionais implementados e validados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700784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68249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4 camadas Docker — totalmente funcional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84832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0080" y="20665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portais React por perfil de utilizador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468880"/>
            <a:ext cx="228600" cy="2286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0080" y="245059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integração ponta-a-ponta (Postman)</a:t>
            </a:r>
            <a:endParaRPr lang="en-US" sz="11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852928"/>
            <a:ext cx="228600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 46ms a 50 utilizadores concorrentes</a:t>
            </a:r>
            <a:endParaRPr lang="en-US" sz="11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236976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40080" y="32186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crítica sobre uso de LLMs no SDLC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4663440" y="914400"/>
            <a:ext cx="416052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1"/>
          <p:cNvSpPr/>
          <p:nvPr/>
        </p:nvSpPr>
        <p:spPr>
          <a:xfrm>
            <a:off x="4754880" y="95097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Trabalho Futuro</a:t>
            </a:r>
            <a:endParaRPr lang="en-US" sz="1300" dirty="0"/>
          </a:p>
        </p:txBody>
      </p:sp>
      <p:sp>
        <p:nvSpPr>
          <p:cNvPr id="20" name="Shape 12"/>
          <p:cNvSpPr/>
          <p:nvPr/>
        </p:nvSpPr>
        <p:spPr>
          <a:xfrm>
            <a:off x="4663440" y="1307592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3"/>
          <p:cNvSpPr/>
          <p:nvPr/>
        </p:nvSpPr>
        <p:spPr>
          <a:xfrm>
            <a:off x="4663440" y="1316736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50" dirty="0"/>
          </a:p>
        </p:txBody>
      </p:sp>
      <p:sp>
        <p:nvSpPr>
          <p:cNvPr id="22" name="Text 14"/>
          <p:cNvSpPr/>
          <p:nvPr/>
        </p:nvSpPr>
        <p:spPr>
          <a:xfrm>
            <a:off x="5413248" y="1307592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JWT de localStorage para cookies HttpOnly</a:t>
            </a:r>
            <a:endParaRPr lang="en-US" sz="1050" dirty="0"/>
          </a:p>
        </p:txBody>
      </p:sp>
      <p:sp>
        <p:nvSpPr>
          <p:cNvPr id="23" name="Shape 15"/>
          <p:cNvSpPr/>
          <p:nvPr/>
        </p:nvSpPr>
        <p:spPr>
          <a:xfrm>
            <a:off x="4663440" y="1682496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/>
          <p:cNvSpPr/>
          <p:nvPr/>
        </p:nvSpPr>
        <p:spPr>
          <a:xfrm>
            <a:off x="4663440" y="169164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50" dirty="0"/>
          </a:p>
        </p:txBody>
      </p:sp>
      <p:sp>
        <p:nvSpPr>
          <p:cNvPr id="25" name="Text 17"/>
          <p:cNvSpPr/>
          <p:nvPr/>
        </p:nvSpPr>
        <p:spPr>
          <a:xfrm>
            <a:off x="5413248" y="1682496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refresh tokens (sessões longas)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4663440" y="2057400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4663440" y="2066544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750" dirty="0"/>
          </a:p>
        </p:txBody>
      </p:sp>
      <p:sp>
        <p:nvSpPr>
          <p:cNvPr id="31" name="Text 23"/>
          <p:cNvSpPr/>
          <p:nvPr/>
        </p:nvSpPr>
        <p:spPr>
          <a:xfrm>
            <a:off x="5413248" y="2029968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code smells remanescentes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4663440" y="2432304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5"/>
          <p:cNvSpPr/>
          <p:nvPr/>
        </p:nvSpPr>
        <p:spPr>
          <a:xfrm>
            <a:off x="4663440" y="244144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4" name="Text 26"/>
          <p:cNvSpPr/>
          <p:nvPr/>
        </p:nvSpPr>
        <p:spPr>
          <a:xfrm>
            <a:off x="5394960" y="2443178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nativa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mecânico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4663440" y="2807208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4663440" y="2816352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7" name="Text 29"/>
          <p:cNvSpPr/>
          <p:nvPr/>
        </p:nvSpPr>
        <p:spPr>
          <a:xfrm>
            <a:off x="5394960" y="2807208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MB WAY / Multibanco online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5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5146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35204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39776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http://localhost:3000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996</Words>
  <Application>Microsoft Macintosh PowerPoint</Application>
  <PresentationFormat>On-screen Show (16:9)</PresentationFormat>
  <Paragraphs>241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Fix'n'Ride — MobiFix</dc:title>
  <dc:subject>PptxGenJS Presentation</dc:subject>
  <dc:creator>PptxGenJS</dc:creator>
  <cp:lastModifiedBy>Diogo Esteves</cp:lastModifiedBy>
  <cp:revision>16</cp:revision>
  <dcterms:created xsi:type="dcterms:W3CDTF">2026-05-06T21:49:26Z</dcterms:created>
  <dcterms:modified xsi:type="dcterms:W3CDTF">2026-05-06T23:52:04Z</dcterms:modified>
</cp:coreProperties>
</file>