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63" r:id="rId5"/>
    <p:sldId id="261" r:id="rId6"/>
    <p:sldId id="259" r:id="rId7"/>
    <p:sldId id="260" r:id="rId8"/>
    <p:sldId id="271" r:id="rId9"/>
    <p:sldId id="270" r:id="rId10"/>
    <p:sldId id="269" r:id="rId11"/>
    <p:sldId id="272" r:id="rId12"/>
    <p:sldId id="262" r:id="rId13"/>
    <p:sldId id="268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310"/>
    <p:restoredTop sz="94610"/>
  </p:normalViewPr>
  <p:slideViewPr>
    <p:cSldViewPr snapToGrid="0" snapToObjects="1">
      <p:cViewPr>
        <p:scale>
          <a:sx n="149" d="100"/>
          <a:sy n="149" d="100"/>
        </p:scale>
        <p:origin x="224" y="3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641473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FD1E8-E968-0D4A-AEFF-72170C274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7E43CE-5F1A-B6BC-6F3B-91D81018C2E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C24B2-815F-DDE4-D668-0547B4DC9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7CC9E83-9439-1AC0-4919-B47E43C5F2D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065530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18E4D6-5669-D1AA-583B-5E95C29B50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D9AA60-679A-9A69-7FC7-B20CCEE799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EB955C-2397-8728-4C64-466BEC613B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0EDE7-B3EC-E265-F269-23F6FB94EC7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060979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B7625-A897-B27C-C973-3FF7EFB448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7F079A7-F5D2-A147-25EB-DF5C032A71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B89B21B-6F65-3E73-1FF0-797CD244F3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DA024F-640E-895C-8C33-C452E77D325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92703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4A519-9FD0-83FE-E270-3E6A9DD3CB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D1F1B29-7034-6A31-A032-198D1B021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5DB5D2E-068C-4B01-BFD1-3AD71B9E0DC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485242-E8D4-45BC-AFBC-CAC67B2F598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86233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3.png"/><Relationship Id="rId12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11" Type="http://schemas.openxmlformats.org/officeDocument/2006/relationships/image" Target="../media/image22.png"/><Relationship Id="rId5" Type="http://schemas.openxmlformats.org/officeDocument/2006/relationships/image" Target="../media/image14.png"/><Relationship Id="rId10" Type="http://schemas.openxmlformats.org/officeDocument/2006/relationships/image" Target="../media/image21.png"/><Relationship Id="rId4" Type="http://schemas.openxmlformats.org/officeDocument/2006/relationships/image" Target="../media/image17.png"/><Relationship Id="rId9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3977640" y="548640"/>
            <a:ext cx="1188720" cy="1188720"/>
          </a:xfrm>
          <a:prstGeom prst="ellipse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960" y="777240"/>
            <a:ext cx="640080" cy="64008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192024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Fix'n'Ride</a:t>
            </a:r>
            <a:endParaRPr lang="en-US" sz="5400" dirty="0"/>
          </a:p>
        </p:txBody>
      </p:sp>
      <p:sp>
        <p:nvSpPr>
          <p:cNvPr id="6" name="Text 3"/>
          <p:cNvSpPr/>
          <p:nvPr/>
        </p:nvSpPr>
        <p:spPr>
          <a:xfrm>
            <a:off x="914400" y="297180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Oficina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Reparação</a:t>
            </a:r>
            <a:r>
              <a:rPr lang="en-US" sz="170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700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Trotinetes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57200" y="3703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Diogo Esteves · Diogo Fernandes · Jorge Fernandes · Rodrigo Fernandes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457200" y="411480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Laboratórios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100" dirty="0" err="1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Informática</a:t>
            </a:r>
            <a:r>
              <a:rPr lang="en-US" sz="11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IV · Universidade do Minho · 2025/2026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Rectangle 1">
            <a:extLst>
              <a:ext uri="{FF2B5EF4-FFF2-40B4-BE49-F238E27FC236}">
                <a16:creationId xmlns:a16="http://schemas.microsoft.com/office/drawing/2014/main" id="{7FE90460-9FE7-5B8E-CA45-5DFFE0736A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Times New Roman" panose="02020603050405020304" pitchFamily="18" charset="0"/>
              </a:rPr>
              <a:t>Sistema de gestão para uma oficina de reparação de trotinetes</a:t>
            </a:r>
            <a:br>
              <a:rPr kumimoji="0" lang="en-US" altLang="en-US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O Problema</a:t>
            </a:r>
          </a:p>
        </p:txBody>
      </p:sp>
      <p:sp>
        <p:nvSpPr>
          <p:cNvPr id="4" name="Shape 2"/>
          <p:cNvSpPr/>
          <p:nvPr/>
        </p:nvSpPr>
        <p:spPr>
          <a:xfrm>
            <a:off x="182592" y="860120"/>
            <a:ext cx="8781120" cy="7315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48640" y="90584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pt-PT" sz="1200" dirty="0">
                <a:solidFill>
                  <a:srgbClr val="E2E8F0"/>
                </a:solidFill>
                <a:latin typeface="Calibri" pitchFamily="34" charset="0"/>
              </a:rPr>
              <a:t>A MobiFix opera numa oficina de trotinetes elétricas com processos totalmente manuais — folhas de cálculo, registos em papel e comunicação fragmentada — incapaz de escalar com a crescente procura.</a:t>
            </a:r>
          </a:p>
        </p:txBody>
      </p:sp>
      <p:sp>
        <p:nvSpPr>
          <p:cNvPr id="20" name="Shape Admin"/>
          <p:cNvSpPr/>
          <p:nvPr/>
        </p:nvSpPr>
        <p:spPr>
          <a:xfrm>
            <a:off x="18259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Admin Ico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8728" y="1859560"/>
            <a:ext cx="380880" cy="380880"/>
          </a:xfrm>
          <a:prstGeom prst="rect">
            <a:avLst/>
          </a:prstGeom>
        </p:spPr>
      </p:pic>
      <p:sp>
        <p:nvSpPr>
          <p:cNvPr id="22" name="Text Admin Label"/>
          <p:cNvSpPr/>
          <p:nvPr/>
        </p:nvSpPr>
        <p:spPr>
          <a:xfrm>
            <a:off x="27443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Administração</a:t>
            </a:r>
          </a:p>
        </p:txBody>
      </p:sp>
      <p:sp>
        <p:nvSpPr>
          <p:cNvPr id="23" name="Text Admin Desc"/>
          <p:cNvSpPr/>
          <p:nvPr/>
        </p:nvSpPr>
        <p:spPr>
          <a:xfrm>
            <a:off x="27443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métricas em tempo real, sem controlo de stock, sem KPIs de rentabilidade.</a:t>
            </a:r>
          </a:p>
        </p:txBody>
      </p:sp>
      <p:sp>
        <p:nvSpPr>
          <p:cNvPr id="30" name="Shape Mec"/>
          <p:cNvSpPr/>
          <p:nvPr/>
        </p:nvSpPr>
        <p:spPr>
          <a:xfrm>
            <a:off x="242371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1" name="Image Mec Ico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62152" y="1887100"/>
            <a:ext cx="380880" cy="380880"/>
          </a:xfrm>
          <a:prstGeom prst="rect">
            <a:avLst/>
          </a:prstGeom>
        </p:spPr>
      </p:pic>
      <p:sp>
        <p:nvSpPr>
          <p:cNvPr id="32" name="Text Mec Label"/>
          <p:cNvSpPr/>
          <p:nvPr/>
        </p:nvSpPr>
        <p:spPr>
          <a:xfrm>
            <a:off x="251555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Mecânicos</a:t>
            </a:r>
          </a:p>
        </p:txBody>
      </p:sp>
      <p:sp>
        <p:nvSpPr>
          <p:cNvPr id="33" name="Text Mec Desc"/>
          <p:cNvSpPr/>
          <p:nvPr/>
        </p:nvSpPr>
        <p:spPr>
          <a:xfrm>
            <a:off x="251555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Diagnósticos em papel, peças perdidas, faturação manual com erros frequentes.</a:t>
            </a:r>
          </a:p>
        </p:txBody>
      </p:sp>
      <p:sp>
        <p:nvSpPr>
          <p:cNvPr id="40" name="Shape Op"/>
          <p:cNvSpPr/>
          <p:nvPr/>
        </p:nvSpPr>
        <p:spPr>
          <a:xfrm>
            <a:off x="466483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Op Ico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3272" y="1887100"/>
            <a:ext cx="380880" cy="380880"/>
          </a:xfrm>
          <a:prstGeom prst="rect">
            <a:avLst/>
          </a:prstGeom>
        </p:spPr>
      </p:pic>
      <p:sp>
        <p:nvSpPr>
          <p:cNvPr id="42" name="Text Op Label"/>
          <p:cNvSpPr/>
          <p:nvPr/>
        </p:nvSpPr>
        <p:spPr>
          <a:xfrm>
            <a:off x="475667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Operador</a:t>
            </a:r>
          </a:p>
        </p:txBody>
      </p:sp>
      <p:sp>
        <p:nvSpPr>
          <p:cNvPr id="43" name="Text Op Desc"/>
          <p:cNvSpPr/>
          <p:nvPr/>
        </p:nvSpPr>
        <p:spPr>
          <a:xfrm>
            <a:off x="475667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Balcão manual, vendas sem registo digital, encomendas por email sem rastreio.</a:t>
            </a:r>
          </a:p>
        </p:txBody>
      </p:sp>
      <p:sp>
        <p:nvSpPr>
          <p:cNvPr id="50" name="Shape Cli"/>
          <p:cNvSpPr/>
          <p:nvPr/>
        </p:nvSpPr>
        <p:spPr>
          <a:xfrm>
            <a:off x="6905952" y="1760000"/>
            <a:ext cx="2057760" cy="279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1" name="Image Cli Icon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44392" y="1887100"/>
            <a:ext cx="380880" cy="380880"/>
          </a:xfrm>
          <a:prstGeom prst="rect">
            <a:avLst/>
          </a:prstGeom>
        </p:spPr>
      </p:pic>
      <p:sp>
        <p:nvSpPr>
          <p:cNvPr id="52" name="Text Cli Label"/>
          <p:cNvSpPr/>
          <p:nvPr/>
        </p:nvSpPr>
        <p:spPr>
          <a:xfrm>
            <a:off x="6997792" y="2340000"/>
            <a:ext cx="1874080" cy="3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300" b="1" dirty="0">
                <a:solidFill>
                  <a:srgbClr val="FFFFFF"/>
                </a:solidFill>
                <a:latin typeface="Calibri" pitchFamily="34" charset="0"/>
              </a:rPr>
              <a:t>Clientes</a:t>
            </a:r>
          </a:p>
        </p:txBody>
      </p:sp>
      <p:sp>
        <p:nvSpPr>
          <p:cNvPr id="53" name="Text Cli Desc"/>
          <p:cNvSpPr/>
          <p:nvPr/>
        </p:nvSpPr>
        <p:spPr>
          <a:xfrm>
            <a:off x="6997792" y="2730000"/>
            <a:ext cx="1874080" cy="73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Sem visibilidade do estado da reparação, sem agendamento online, sem transparência.</a:t>
            </a:r>
          </a:p>
        </p:txBody>
      </p:sp>
      <p:sp>
        <p:nvSpPr>
          <p:cNvPr id="18" name="Shape 13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82880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 — Fix'n'Ride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365760" y="91440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web multi-perfil que digitaliza e centraliza toda a operação da MobiFix — do agendamento à faturação.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47088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1481328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0512" y="186537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481328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00" dirty="0"/>
          </a:p>
        </p:txBody>
      </p:sp>
      <p:sp>
        <p:nvSpPr>
          <p:cNvPr id="11" name="Shape 7"/>
          <p:cNvSpPr/>
          <p:nvPr/>
        </p:nvSpPr>
        <p:spPr>
          <a:xfrm>
            <a:off x="2596896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26080" y="1865376"/>
            <a:ext cx="347472" cy="34747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2596896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00" dirty="0"/>
          </a:p>
        </p:txBody>
      </p:sp>
      <p:sp>
        <p:nvSpPr>
          <p:cNvPr id="14" name="Shape 9"/>
          <p:cNvSpPr/>
          <p:nvPr/>
        </p:nvSpPr>
        <p:spPr>
          <a:xfrm>
            <a:off x="3712464" y="1783080"/>
            <a:ext cx="1005840" cy="77724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41648" y="1865376"/>
            <a:ext cx="347472" cy="347472"/>
          </a:xfrm>
          <a:prstGeom prst="rect">
            <a:avLst/>
          </a:prstGeom>
        </p:spPr>
      </p:pic>
      <p:sp>
        <p:nvSpPr>
          <p:cNvPr id="16" name="Text 10"/>
          <p:cNvSpPr/>
          <p:nvPr/>
        </p:nvSpPr>
        <p:spPr>
          <a:xfrm>
            <a:off x="3712464" y="2240280"/>
            <a:ext cx="1005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000" dirty="0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2834640"/>
            <a:ext cx="256032" cy="256032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68580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 online de diagnósticos</a:t>
            </a:r>
            <a:endParaRPr lang="en-US" sz="1150" dirty="0"/>
          </a:p>
        </p:txBody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291840"/>
            <a:ext cx="256032" cy="256032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68580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Catálogo de intervenções com preços fixos</a:t>
            </a:r>
            <a:endParaRPr lang="en-US" sz="1150" dirty="0"/>
          </a:p>
        </p:txBody>
      </p:sp>
      <p:pic>
        <p:nvPicPr>
          <p:cNvPr id="2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5760" y="3749040"/>
            <a:ext cx="256032" cy="256032"/>
          </a:xfrm>
          <a:prstGeom prst="rect">
            <a:avLst/>
          </a:prstGeom>
        </p:spPr>
      </p:pic>
      <p:sp>
        <p:nvSpPr>
          <p:cNvPr id="22" name="Text 13"/>
          <p:cNvSpPr/>
          <p:nvPr/>
        </p:nvSpPr>
        <p:spPr>
          <a:xfrm>
            <a:off x="68580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stock com alertas automáticos</a:t>
            </a:r>
            <a:endParaRPr lang="en-US" sz="11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2834640"/>
            <a:ext cx="256032" cy="256032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3154680" y="27889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&amp; Collect de peças</a:t>
            </a:r>
            <a:endParaRPr lang="en-US" sz="1150" dirty="0"/>
          </a:p>
        </p:txBody>
      </p:sp>
      <p:pic>
        <p:nvPicPr>
          <p:cNvPr id="2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291840"/>
            <a:ext cx="256032" cy="256032"/>
          </a:xfrm>
          <a:prstGeom prst="rect">
            <a:avLst/>
          </a:prstGeom>
        </p:spPr>
      </p:pic>
      <p:sp>
        <p:nvSpPr>
          <p:cNvPr id="26" name="Text 15"/>
          <p:cNvSpPr/>
          <p:nvPr/>
        </p:nvSpPr>
        <p:spPr>
          <a:xfrm>
            <a:off x="3154680" y="32461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Faturação atómica com devoluções/notas de crédito</a:t>
            </a:r>
            <a:endParaRPr lang="en-US" sz="1150" dirty="0"/>
          </a:p>
        </p:txBody>
      </p:sp>
      <p:pic>
        <p:nvPicPr>
          <p:cNvPr id="27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34640" y="3749040"/>
            <a:ext cx="256032" cy="256032"/>
          </a:xfrm>
          <a:prstGeom prst="rect">
            <a:avLst/>
          </a:prstGeom>
        </p:spPr>
      </p:pic>
      <p:sp>
        <p:nvSpPr>
          <p:cNvPr id="28" name="Text 16"/>
          <p:cNvSpPr/>
          <p:nvPr/>
        </p:nvSpPr>
        <p:spPr>
          <a:xfrm>
            <a:off x="3154680" y="3703320"/>
            <a:ext cx="2057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financeiro com KPIs</a:t>
            </a:r>
            <a:endParaRPr lang="en-US" sz="1150" dirty="0"/>
          </a:p>
        </p:txBody>
      </p:sp>
      <p:sp>
        <p:nvSpPr>
          <p:cNvPr id="38" name="Shape 2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0" name="Picture 39" descr="A logo of a scooter&#10;&#10;AI-generated content may be incorrect.">
            <a:extLst>
              <a:ext uri="{FF2B5EF4-FFF2-40B4-BE49-F238E27FC236}">
                <a16:creationId xmlns:a16="http://schemas.microsoft.com/office/drawing/2014/main" id="{8DB3A38D-EE1D-A4B5-20B3-91178F5D7F9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68112" y="896112"/>
            <a:ext cx="3367022" cy="32846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170953" y="180698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Fases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411479" y="1005840"/>
            <a:ext cx="3015461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1: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Conceção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Stories, entrevistas,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levantamento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req.,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use cases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74320" y="18745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411480" y="1920240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2: </a:t>
            </a:r>
            <a:r>
              <a:rPr lang="en-US" sz="1200" b="1" dirty="0" err="1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Design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2274294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chemeClr val="bg1"/>
                </a:solidFill>
              </a:rPr>
              <a:t>Especificação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Padrões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  <a:r>
              <a:rPr lang="en-US" sz="1050" dirty="0" err="1">
                <a:solidFill>
                  <a:schemeClr val="bg1"/>
                </a:solidFill>
              </a:rPr>
              <a:t>Arquitetutais</a:t>
            </a:r>
            <a:r>
              <a:rPr lang="en-US" sz="1050" dirty="0">
                <a:solidFill>
                  <a:schemeClr val="bg1"/>
                </a:solidFill>
              </a:rPr>
              <a:t>, </a:t>
            </a:r>
            <a:r>
              <a:rPr lang="en-US" sz="1050" dirty="0" err="1">
                <a:solidFill>
                  <a:schemeClr val="bg1"/>
                </a:solidFill>
              </a:rPr>
              <a:t>Modelação</a:t>
            </a:r>
            <a:r>
              <a:rPr lang="en-US" sz="1050" dirty="0">
                <a:solidFill>
                  <a:schemeClr val="bg1"/>
                </a:solidFill>
              </a:rPr>
              <a:t> UML e </a:t>
            </a:r>
            <a:r>
              <a:rPr lang="en-US" sz="1050" dirty="0" err="1">
                <a:solidFill>
                  <a:schemeClr val="bg1"/>
                </a:solidFill>
              </a:rPr>
              <a:t>Prototipagem</a:t>
            </a:r>
            <a:r>
              <a:rPr lang="en-US" sz="1050" dirty="0">
                <a:solidFill>
                  <a:schemeClr val="bg1"/>
                </a:solidFill>
              </a:rPr>
              <a:t> </a:t>
            </a:r>
          </a:p>
        </p:txBody>
      </p:sp>
      <p:sp>
        <p:nvSpPr>
          <p:cNvPr id="12" name="Shape 10"/>
          <p:cNvSpPr/>
          <p:nvPr/>
        </p:nvSpPr>
        <p:spPr>
          <a:xfrm>
            <a:off x="274320" y="27889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411480" y="2834640"/>
            <a:ext cx="293273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3: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</a:t>
            </a: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11480" y="3218688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de dados,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LN,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Frontend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274320" y="3703320"/>
            <a:ext cx="4754880" cy="749808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11479" y="3749040"/>
            <a:ext cx="3798055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4: Verificação,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</a:t>
            </a: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</a:t>
            </a:r>
            <a:r>
              <a:rPr lang="en-US" sz="1200" b="1" dirty="0" err="1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Qualidade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17443" y="4116982"/>
            <a:ext cx="45720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cases, sugestões de teste, code smells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349240" y="960120"/>
            <a:ext cx="3520440" cy="1463040"/>
          </a:xfrm>
          <a:prstGeom prst="rect">
            <a:avLst/>
          </a:prstGeom>
          <a:solidFill>
            <a:srgbClr val="1E3A5F"/>
          </a:solidFill>
          <a:ln w="1905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1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7840" y="1051560"/>
            <a:ext cx="548640" cy="54864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6172200" y="1024128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40–50%</a:t>
            </a:r>
            <a:endParaRPr lang="en-US" sz="3800" dirty="0"/>
          </a:p>
        </p:txBody>
      </p:sp>
      <p:sp>
        <p:nvSpPr>
          <p:cNvPr id="23" name="Text 20"/>
          <p:cNvSpPr/>
          <p:nvPr/>
        </p:nvSpPr>
        <p:spPr>
          <a:xfrm>
            <a:off x="5440680" y="1645920"/>
            <a:ext cx="3337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Redução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tempo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estimada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graças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uso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LLMs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5349240" y="2514600"/>
            <a:ext cx="3520440" cy="20116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5440680" y="256032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Smells Identificados</a:t>
            </a:r>
            <a:endParaRPr lang="en-US" sz="1200" dirty="0"/>
          </a:p>
        </p:txBody>
      </p:sp>
      <p:pic>
        <p:nvPicPr>
          <p:cNvPr id="26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2953512"/>
            <a:ext cx="228600" cy="22860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5742432" y="2926080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parseJwt duplicado (×5 componentes)</a:t>
            </a:r>
            <a:endParaRPr lang="en-US" sz="1050" dirty="0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37771" y="3438144"/>
            <a:ext cx="228600" cy="228600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5715000" y="343336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alert() nativo em vez de toasts</a:t>
            </a:r>
            <a:endParaRPr lang="en-US" sz="1050" dirty="0"/>
          </a:p>
        </p:txBody>
      </p:sp>
      <p:pic>
        <p:nvPicPr>
          <p:cNvPr id="30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3922776"/>
            <a:ext cx="228600" cy="22860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715000" y="3895344"/>
            <a:ext cx="301752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Mapeamentos defensivos excessivos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Engenharia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Requisitos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9669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1887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Funcionais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74320" y="196596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74320" y="200253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1188720" y="214884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Req. Não Funcionais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74320" y="300837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188720" y="315468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Casos de Uso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3977640"/>
            <a:ext cx="2286000" cy="82296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4014216"/>
            <a:ext cx="914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15" name="Text 13"/>
          <p:cNvSpPr/>
          <p:nvPr/>
        </p:nvSpPr>
        <p:spPr>
          <a:xfrm>
            <a:off x="1188720" y="416052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2926080" y="96012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017520" y="100584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Métodos de Levantamento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17520" y="1417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Questionários (formato livre)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1764792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Observação Direta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017520" y="2112264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Entrevistas Estruturadas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2926080" y="2834640"/>
            <a:ext cx="2743200" cy="1691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3017520" y="288036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Modelos UML Produzidos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017520" y="32918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Modelo de Domínio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584448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Casos de Uso 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017520" y="3877056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Diagramas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3017520" y="4169664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Máquinas de </a:t>
            </a:r>
            <a:r>
              <a:rPr lang="en-US" sz="110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</a:t>
            </a: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0" y="960120"/>
            <a:ext cx="2880360" cy="35661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6035040" y="1005840"/>
            <a:ext cx="2651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</a:t>
            </a:r>
            <a:endParaRPr lang="en-US" sz="1300" dirty="0"/>
          </a:p>
        </p:txBody>
      </p:sp>
      <p:pic>
        <p:nvPicPr>
          <p:cNvPr id="2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554480"/>
            <a:ext cx="320040" cy="320040"/>
          </a:xfrm>
          <a:prstGeom prst="rect">
            <a:avLst/>
          </a:prstGeom>
        </p:spPr>
      </p:pic>
      <p:sp>
        <p:nvSpPr>
          <p:cNvPr id="30" name="Text 27"/>
          <p:cNvSpPr/>
          <p:nvPr/>
        </p:nvSpPr>
        <p:spPr>
          <a:xfrm>
            <a:off x="6537960" y="1463040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 err="1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6537960" y="1764792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Métricas, ROI, encomendas</a:t>
            </a:r>
            <a:endParaRPr lang="en-US" sz="1000" dirty="0"/>
          </a:p>
        </p:txBody>
      </p:sp>
      <p:pic>
        <p:nvPicPr>
          <p:cNvPr id="3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2313432"/>
            <a:ext cx="320040" cy="320040"/>
          </a:xfrm>
          <a:prstGeom prst="rect">
            <a:avLst/>
          </a:prstGeom>
        </p:spPr>
      </p:pic>
      <p:sp>
        <p:nvSpPr>
          <p:cNvPr id="33" name="Text 29"/>
          <p:cNvSpPr/>
          <p:nvPr/>
        </p:nvSpPr>
        <p:spPr>
          <a:xfrm>
            <a:off x="6537960" y="2221992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Mecânicos</a:t>
            </a:r>
            <a:endParaRPr lang="en-US" sz="1200" dirty="0"/>
          </a:p>
        </p:txBody>
      </p:sp>
      <p:sp>
        <p:nvSpPr>
          <p:cNvPr id="34" name="Text 30"/>
          <p:cNvSpPr/>
          <p:nvPr/>
        </p:nvSpPr>
        <p:spPr>
          <a:xfrm>
            <a:off x="6537960" y="2523744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reparações</a:t>
            </a:r>
            <a:endParaRPr lang="en-US" sz="1000" dirty="0"/>
          </a:p>
        </p:txBody>
      </p:sp>
      <p:pic>
        <p:nvPicPr>
          <p:cNvPr id="35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26480" y="3072384"/>
            <a:ext cx="320040" cy="320040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537960" y="2980944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Operadores</a:t>
            </a:r>
            <a:endParaRPr lang="en-US" sz="1200" dirty="0"/>
          </a:p>
        </p:txBody>
      </p:sp>
      <p:sp>
        <p:nvSpPr>
          <p:cNvPr id="37" name="Text 32"/>
          <p:cNvSpPr/>
          <p:nvPr/>
        </p:nvSpPr>
        <p:spPr>
          <a:xfrm>
            <a:off x="6537960" y="3282696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Balcão, vendas, entregas</a:t>
            </a:r>
            <a:endParaRPr lang="en-US" sz="1000" dirty="0"/>
          </a:p>
        </p:txBody>
      </p:sp>
      <p:pic>
        <p:nvPicPr>
          <p:cNvPr id="3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26480" y="3831336"/>
            <a:ext cx="320040" cy="32004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6537960" y="3739896"/>
            <a:ext cx="2103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</a:t>
            </a:r>
            <a:endParaRPr lang="en-US" sz="1200" dirty="0"/>
          </a:p>
        </p:txBody>
      </p:sp>
      <p:sp>
        <p:nvSpPr>
          <p:cNvPr id="40" name="Text 34"/>
          <p:cNvSpPr/>
          <p:nvPr/>
        </p:nvSpPr>
        <p:spPr>
          <a:xfrm>
            <a:off x="6537960" y="4041648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rastreio</a:t>
            </a:r>
            <a:endParaRPr lang="en-US" sz="1000" dirty="0"/>
          </a:p>
        </p:txBody>
      </p:sp>
      <p:sp>
        <p:nvSpPr>
          <p:cNvPr id="41" name="Shape 35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2ª Fase: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do Sistema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86868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33272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00584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— React + TanStack Query + Tailwind CSS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365760" y="1719072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883664"/>
            <a:ext cx="347472" cy="3474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51560" y="1856232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de Negócios — ASP.NET Core (.NET 8) + JWT + BCrypt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365760" y="2560320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2724912"/>
            <a:ext cx="347472" cy="3474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051560" y="2697480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— Node.js / Express + Mongoose</a:t>
            </a:r>
            <a:endParaRPr lang="en-US" sz="1300" dirty="0"/>
          </a:p>
        </p:txBody>
      </p:sp>
      <p:sp>
        <p:nvSpPr>
          <p:cNvPr id="13" name="Shape 8"/>
          <p:cNvSpPr/>
          <p:nvPr/>
        </p:nvSpPr>
        <p:spPr>
          <a:xfrm>
            <a:off x="365760" y="3401568"/>
            <a:ext cx="6126480" cy="685800"/>
          </a:xfrm>
          <a:prstGeom prst="rect">
            <a:avLst/>
          </a:prstGeom>
          <a:solidFill>
            <a:srgbClr val="1E293B"/>
          </a:solidFill>
          <a:ln w="254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566160"/>
            <a:ext cx="347472" cy="3474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051560" y="3538728"/>
            <a:ext cx="5303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 — MongoDB + Docker Volume</a:t>
            </a:r>
            <a:endParaRPr lang="en-US" sz="1300" dirty="0"/>
          </a:p>
        </p:txBody>
      </p:sp>
      <p:sp>
        <p:nvSpPr>
          <p:cNvPr id="16" name="Shape 10"/>
          <p:cNvSpPr/>
          <p:nvPr/>
        </p:nvSpPr>
        <p:spPr>
          <a:xfrm>
            <a:off x="3246120" y="1554480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1"/>
          <p:cNvSpPr/>
          <p:nvPr/>
        </p:nvSpPr>
        <p:spPr>
          <a:xfrm>
            <a:off x="3246120" y="2404872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2"/>
          <p:cNvSpPr/>
          <p:nvPr/>
        </p:nvSpPr>
        <p:spPr>
          <a:xfrm>
            <a:off x="3246120" y="3255264"/>
            <a:ext cx="18288" cy="164592"/>
          </a:xfrm>
          <a:prstGeom prst="rect">
            <a:avLst/>
          </a:prstGeom>
          <a:solidFill>
            <a:srgbClr val="475569"/>
          </a:solidFill>
          <a:ln w="12700">
            <a:solidFill>
              <a:srgbClr val="47556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3"/>
          <p:cNvSpPr/>
          <p:nvPr/>
        </p:nvSpPr>
        <p:spPr>
          <a:xfrm>
            <a:off x="6766560" y="868680"/>
            <a:ext cx="2011680" cy="3218688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4"/>
          <p:cNvSpPr/>
          <p:nvPr/>
        </p:nvSpPr>
        <p:spPr>
          <a:xfrm>
            <a:off x="6858000" y="914400"/>
            <a:ext cx="1828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Decisões Chave</a:t>
            </a:r>
            <a:endParaRPr lang="en-US" sz="1200" dirty="0"/>
          </a:p>
        </p:txBody>
      </p:sp>
      <p:sp>
        <p:nvSpPr>
          <p:cNvPr id="21" name="Text 15"/>
          <p:cNvSpPr/>
          <p:nvPr/>
        </p:nvSpPr>
        <p:spPr>
          <a:xfrm>
            <a:off x="6858000" y="132588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Separação física LN / Data API</a:t>
            </a:r>
            <a:endParaRPr lang="en-US" sz="1050" dirty="0"/>
          </a:p>
        </p:txBody>
      </p:sp>
      <p:sp>
        <p:nvSpPr>
          <p:cNvPr id="22" name="Text 16"/>
          <p:cNvSpPr/>
          <p:nvPr/>
        </p:nvSpPr>
        <p:spPr>
          <a:xfrm>
            <a:off x="6858000" y="1673352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MongoDB vs. SQL Server</a:t>
            </a:r>
            <a:endParaRPr lang="en-US" sz="1050" dirty="0"/>
          </a:p>
        </p:txBody>
      </p:sp>
      <p:sp>
        <p:nvSpPr>
          <p:cNvPr id="23" name="Text 17"/>
          <p:cNvSpPr/>
          <p:nvPr/>
        </p:nvSpPr>
        <p:spPr>
          <a:xfrm>
            <a:off x="6858000" y="2020824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4 containers Docker</a:t>
            </a:r>
            <a:endParaRPr lang="en-US" sz="1050" dirty="0"/>
          </a:p>
        </p:txBody>
      </p:sp>
      <p:sp>
        <p:nvSpPr>
          <p:cNvPr id="24" name="Text 18"/>
          <p:cNvSpPr/>
          <p:nvPr/>
        </p:nvSpPr>
        <p:spPr>
          <a:xfrm>
            <a:off x="6858000" y="2368296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RBAC com JWT claims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6858000" y="2715768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HttpClient tipado .NET</a:t>
            </a:r>
            <a:endParaRPr lang="en-US" sz="1050" dirty="0"/>
          </a:p>
        </p:txBody>
      </p:sp>
      <p:sp>
        <p:nvSpPr>
          <p:cNvPr id="26" name="Text 20"/>
          <p:cNvSpPr/>
          <p:nvPr/>
        </p:nvSpPr>
        <p:spPr>
          <a:xfrm>
            <a:off x="6858000" y="30632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TanStack Query cache</a:t>
            </a:r>
            <a:endParaRPr lang="en-US" sz="1050" dirty="0"/>
          </a:p>
        </p:txBody>
      </p:sp>
      <p:sp>
        <p:nvSpPr>
          <p:cNvPr id="27" name="Shape 21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Tecnológica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" y="114300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20040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320040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Persistência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1993392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10B98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19172" y="1143000"/>
            <a:ext cx="502920" cy="5029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039112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Mongoose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2039112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/ Schema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712464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38244" y="1143000"/>
            <a:ext cx="502920" cy="50292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758184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+ Express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3758184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5431536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EA5E9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57316" y="1143000"/>
            <a:ext cx="502920" cy="5029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77256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ASP.NET Core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477256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Lógica Negócios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7150608" y="96012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676388" y="1143000"/>
            <a:ext cx="502920" cy="50292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7196328" y="173736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18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7196328" y="216712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SPA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274320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6366F1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00100" y="3017520"/>
            <a:ext cx="502920" cy="50292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20040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TanStack Query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320040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 Management</a:t>
            </a:r>
            <a:endParaRPr lang="en-US" sz="950" dirty="0"/>
          </a:p>
        </p:txBody>
      </p:sp>
      <p:sp>
        <p:nvSpPr>
          <p:cNvPr id="28" name="Shape 20"/>
          <p:cNvSpPr/>
          <p:nvPr/>
        </p:nvSpPr>
        <p:spPr>
          <a:xfrm>
            <a:off x="1993392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06B6D4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519172" y="3017520"/>
            <a:ext cx="502920" cy="50292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2039112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Tailwind CSS</a:t>
            </a:r>
            <a:endParaRPr lang="en-US" sz="1100" dirty="0"/>
          </a:p>
        </p:txBody>
      </p:sp>
      <p:sp>
        <p:nvSpPr>
          <p:cNvPr id="31" name="Text 22"/>
          <p:cNvSpPr/>
          <p:nvPr/>
        </p:nvSpPr>
        <p:spPr>
          <a:xfrm>
            <a:off x="2039112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Estilização</a:t>
            </a:r>
            <a:endParaRPr lang="en-US" sz="950" dirty="0"/>
          </a:p>
        </p:txBody>
      </p:sp>
      <p:sp>
        <p:nvSpPr>
          <p:cNvPr id="32" name="Shape 23"/>
          <p:cNvSpPr/>
          <p:nvPr/>
        </p:nvSpPr>
        <p:spPr>
          <a:xfrm>
            <a:off x="3712464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3B82F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3" name="Image 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38244" y="3017520"/>
            <a:ext cx="502920" cy="502920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3758184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100" dirty="0"/>
          </a:p>
        </p:txBody>
      </p:sp>
      <p:sp>
        <p:nvSpPr>
          <p:cNvPr id="35" name="Text 25"/>
          <p:cNvSpPr/>
          <p:nvPr/>
        </p:nvSpPr>
        <p:spPr>
          <a:xfrm>
            <a:off x="3758184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endParaRPr lang="en-US" sz="950" dirty="0"/>
          </a:p>
        </p:txBody>
      </p:sp>
      <p:sp>
        <p:nvSpPr>
          <p:cNvPr id="36" name="Shape 26"/>
          <p:cNvSpPr/>
          <p:nvPr/>
        </p:nvSpPr>
        <p:spPr>
          <a:xfrm>
            <a:off x="5431536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59E0B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37" name="Image 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957316" y="3017520"/>
            <a:ext cx="502920" cy="502920"/>
          </a:xfrm>
          <a:prstGeom prst="rect">
            <a:avLst/>
          </a:prstGeom>
        </p:spPr>
      </p:pic>
      <p:sp>
        <p:nvSpPr>
          <p:cNvPr id="38" name="Text 27"/>
          <p:cNvSpPr/>
          <p:nvPr/>
        </p:nvSpPr>
        <p:spPr>
          <a:xfrm>
            <a:off x="5477256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+ BCrypt</a:t>
            </a:r>
            <a:endParaRPr lang="en-US" sz="1100" dirty="0"/>
          </a:p>
        </p:txBody>
      </p:sp>
      <p:sp>
        <p:nvSpPr>
          <p:cNvPr id="39" name="Text 28"/>
          <p:cNvSpPr/>
          <p:nvPr/>
        </p:nvSpPr>
        <p:spPr>
          <a:xfrm>
            <a:off x="5477256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950" dirty="0"/>
          </a:p>
        </p:txBody>
      </p:sp>
      <p:sp>
        <p:nvSpPr>
          <p:cNvPr id="40" name="Shape 29"/>
          <p:cNvSpPr/>
          <p:nvPr/>
        </p:nvSpPr>
        <p:spPr>
          <a:xfrm>
            <a:off x="7150608" y="2834640"/>
            <a:ext cx="1581912" cy="1645920"/>
          </a:xfrm>
          <a:prstGeom prst="rect">
            <a:avLst/>
          </a:prstGeom>
          <a:solidFill>
            <a:srgbClr val="1E293B"/>
          </a:solidFill>
          <a:ln w="19050">
            <a:solidFill>
              <a:srgbClr val="F97316"/>
            </a:solidFill>
            <a:prstDash val="solid"/>
          </a:ln>
          <a:effectLst>
            <a:outerShdw blurRad="76200" dist="25400" dir="81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41" name="Image 9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76388" y="3017520"/>
            <a:ext cx="502920" cy="502920"/>
          </a:xfrm>
          <a:prstGeom prst="rect">
            <a:avLst/>
          </a:prstGeom>
        </p:spPr>
      </p:pic>
      <p:sp>
        <p:nvSpPr>
          <p:cNvPr id="42" name="Text 30"/>
          <p:cNvSpPr/>
          <p:nvPr/>
        </p:nvSpPr>
        <p:spPr>
          <a:xfrm>
            <a:off x="7196328" y="3611880"/>
            <a:ext cx="149047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</a:t>
            </a:r>
            <a:endParaRPr lang="en-US" sz="1100" dirty="0"/>
          </a:p>
        </p:txBody>
      </p:sp>
      <p:sp>
        <p:nvSpPr>
          <p:cNvPr id="43" name="Text 31"/>
          <p:cNvSpPr/>
          <p:nvPr/>
        </p:nvSpPr>
        <p:spPr>
          <a:xfrm>
            <a:off x="7196328" y="4041648"/>
            <a:ext cx="149047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/ Stress</a:t>
            </a:r>
            <a:endParaRPr lang="en-US" sz="950" dirty="0"/>
          </a:p>
        </p:txBody>
      </p:sp>
      <p:sp>
        <p:nvSpPr>
          <p:cNvPr id="44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129C7E-3145-AFC6-E306-5F0BB77185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F1AB843-295D-DFBE-2005-F6E2A45F4B74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76F5E76C-510A-5AD2-15DF-497381F69162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Interface Web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FF94FBA0-9836-BF9D-44E2-76115615598E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Shape 14">
            <a:extLst>
              <a:ext uri="{FF2B5EF4-FFF2-40B4-BE49-F238E27FC236}">
                <a16:creationId xmlns:a16="http://schemas.microsoft.com/office/drawing/2014/main" id="{33911265-0615-6AA4-C915-CE950503C96E}"/>
              </a:ext>
            </a:extLst>
          </p:cNvPr>
          <p:cNvSpPr/>
          <p:nvPr/>
        </p:nvSpPr>
        <p:spPr>
          <a:xfrm>
            <a:off x="457200" y="859535"/>
            <a:ext cx="3993704" cy="3615646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Geração</a:t>
            </a:r>
            <a:r>
              <a:rPr lang="en-US" dirty="0">
                <a:solidFill>
                  <a:schemeClr val="bg1"/>
                </a:solidFill>
              </a:rPr>
              <a:t> de Mockups com Figma AI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Refinamento</a:t>
            </a:r>
            <a:r>
              <a:rPr lang="en-US" dirty="0">
                <a:solidFill>
                  <a:schemeClr val="bg1"/>
                </a:solidFill>
              </a:rPr>
              <a:t> Manual das Mockups, </a:t>
            </a:r>
            <a:r>
              <a:rPr lang="en-US" dirty="0" err="1">
                <a:solidFill>
                  <a:schemeClr val="bg1"/>
                </a:solidFill>
              </a:rPr>
              <a:t>consoante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os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requisitos</a:t>
            </a:r>
            <a:r>
              <a:rPr lang="en-US" dirty="0">
                <a:solidFill>
                  <a:schemeClr val="bg1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bg1"/>
                </a:solidFill>
              </a:rPr>
              <a:t>As Mockups </a:t>
            </a:r>
            <a:r>
              <a:rPr lang="en-US" dirty="0" err="1">
                <a:solidFill>
                  <a:schemeClr val="bg1"/>
                </a:solidFill>
              </a:rPr>
              <a:t>geradas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o </a:t>
            </a:r>
            <a:r>
              <a:rPr lang="en-US" dirty="0" err="1">
                <a:solidFill>
                  <a:schemeClr val="bg1"/>
                </a:solidFill>
              </a:rPr>
              <a:t>ponto</a:t>
            </a:r>
            <a:r>
              <a:rPr lang="en-US" dirty="0">
                <a:solidFill>
                  <a:schemeClr val="bg1"/>
                </a:solidFill>
              </a:rPr>
              <a:t> de </a:t>
            </a:r>
            <a:r>
              <a:rPr lang="en-US" dirty="0" err="1">
                <a:solidFill>
                  <a:schemeClr val="bg1"/>
                </a:solidFill>
              </a:rPr>
              <a:t>partida</a:t>
            </a:r>
            <a:r>
              <a:rPr lang="en-US" dirty="0">
                <a:solidFill>
                  <a:schemeClr val="bg1"/>
                </a:solidFill>
              </a:rPr>
              <a:t> para o </a:t>
            </a:r>
            <a:r>
              <a:rPr lang="en-US" dirty="0" err="1">
                <a:solidFill>
                  <a:schemeClr val="bg1"/>
                </a:solidFill>
              </a:rPr>
              <a:t>desenvolvimento</a:t>
            </a:r>
            <a:r>
              <a:rPr lang="en-US" dirty="0">
                <a:solidFill>
                  <a:schemeClr val="bg1"/>
                </a:solidFill>
              </a:rPr>
              <a:t> da Interface Web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Melhorias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dirty="0" err="1">
                <a:solidFill>
                  <a:schemeClr val="bg1"/>
                </a:solidFill>
              </a:rPr>
              <a:t>otimizações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ao</a:t>
            </a:r>
            <a:r>
              <a:rPr lang="en-US" dirty="0">
                <a:solidFill>
                  <a:schemeClr val="bg1"/>
                </a:solidFill>
              </a:rPr>
              <a:t> design </a:t>
            </a:r>
            <a:r>
              <a:rPr lang="en-US" dirty="0" err="1">
                <a:solidFill>
                  <a:schemeClr val="bg1"/>
                </a:solidFill>
              </a:rPr>
              <a:t>foram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implementadas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na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fase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seguinte</a:t>
            </a:r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9" name="Picture 48" descr="A screenshot of a dashboard&#10;&#10;AI-generated content may be incorrect.">
            <a:extLst>
              <a:ext uri="{FF2B5EF4-FFF2-40B4-BE49-F238E27FC236}">
                <a16:creationId xmlns:a16="http://schemas.microsoft.com/office/drawing/2014/main" id="{63FBD44C-08B0-1F02-6258-0925BE9C7F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3098" y="859535"/>
            <a:ext cx="4377819" cy="26110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33870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77AECA1-0D59-0D1F-0390-46FBF77EAE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93561EF-8722-2374-B39F-9134B98736A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5EFE5BD-EDCE-7834-ADF1-67371E2D700E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Camada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Negócios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A6A2F952-6776-88EF-501A-636F1AC50167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3E2EDC54-E4C4-F87D-7E85-E4F5E9EE14B9}"/>
              </a:ext>
            </a:extLst>
          </p:cNvPr>
          <p:cNvSpPr/>
          <p:nvPr/>
        </p:nvSpPr>
        <p:spPr>
          <a:xfrm>
            <a:off x="457200" y="859535"/>
            <a:ext cx="5617874" cy="1769267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Diagrama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Componentes</a:t>
            </a:r>
            <a:r>
              <a:rPr lang="en-US" sz="1400" dirty="0">
                <a:solidFill>
                  <a:schemeClr val="bg1"/>
                </a:solidFill>
              </a:rPr>
              <a:t> do Sistema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classe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diagramas</a:t>
            </a:r>
            <a:r>
              <a:rPr lang="en-US" sz="1400" dirty="0">
                <a:solidFill>
                  <a:schemeClr val="bg1"/>
                </a:solidFill>
              </a:rPr>
              <a:t> de </a:t>
            </a:r>
            <a:r>
              <a:rPr lang="en-US" sz="1400" dirty="0" err="1">
                <a:solidFill>
                  <a:schemeClr val="bg1"/>
                </a:solidFill>
              </a:rPr>
              <a:t>sequência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principais</a:t>
            </a:r>
            <a:r>
              <a:rPr lang="en-US" sz="1400" dirty="0">
                <a:solidFill>
                  <a:schemeClr val="bg1"/>
                </a:solidFill>
              </a:rPr>
              <a:t> pipelines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Definição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do </a:t>
            </a:r>
            <a:r>
              <a:rPr lang="en-US" sz="1400" dirty="0" err="1">
                <a:solidFill>
                  <a:schemeClr val="bg1"/>
                </a:solidFill>
              </a:rPr>
              <a:t>servidor</a:t>
            </a:r>
            <a:endParaRPr lang="en-US" sz="1400" dirty="0">
              <a:solidFill>
                <a:schemeClr val="bg1"/>
              </a:solidFill>
            </a:endParaRPr>
          </a:p>
        </p:txBody>
      </p:sp>
      <p:pic>
        <p:nvPicPr>
          <p:cNvPr id="47" name="Picture 46" descr="A diagram of a company&#10;&#10;AI-generated content may be incorrect.">
            <a:extLst>
              <a:ext uri="{FF2B5EF4-FFF2-40B4-BE49-F238E27FC236}">
                <a16:creationId xmlns:a16="http://schemas.microsoft.com/office/drawing/2014/main" id="{19E59D6A-94C0-DC5F-308A-B56FD08FC4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819404"/>
            <a:ext cx="5617874" cy="20649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70001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8523366-CAA4-B1DF-7808-E5FD25BA29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72CC17-B1F7-C3F5-3781-53B0456D184E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F8887B1-15F3-24EB-FF87-B05F6DB61090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da API de dados e Schemas Mongoose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2F4CE170-2DDB-05EA-F017-909E7C1BE798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BB54A324-2DBF-C584-734C-DBDF3344BC94}"/>
              </a:ext>
            </a:extLst>
          </p:cNvPr>
          <p:cNvSpPr/>
          <p:nvPr/>
        </p:nvSpPr>
        <p:spPr>
          <a:xfrm>
            <a:off x="457201" y="859535"/>
            <a:ext cx="3653406" cy="2982623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das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atributos</a:t>
            </a:r>
            <a:r>
              <a:rPr lang="en-US" sz="1400" dirty="0">
                <a:solidFill>
                  <a:schemeClr val="bg1"/>
                </a:solidFill>
              </a:rPr>
              <a:t> e indices de </a:t>
            </a:r>
            <a:r>
              <a:rPr lang="en-US" sz="1400" dirty="0" err="1">
                <a:solidFill>
                  <a:schemeClr val="bg1"/>
                </a:solidFill>
              </a:rPr>
              <a:t>cada</a:t>
            </a:r>
            <a:r>
              <a:rPr lang="en-US" sz="1400" dirty="0">
                <a:solidFill>
                  <a:schemeClr val="bg1"/>
                </a:solidFill>
              </a:rPr>
              <a:t> </a:t>
            </a:r>
            <a:r>
              <a:rPr lang="en-US" sz="1400" dirty="0" err="1">
                <a:solidFill>
                  <a:schemeClr val="bg1"/>
                </a:solidFill>
              </a:rPr>
              <a:t>coleção</a:t>
            </a: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</a:t>
            </a:r>
            <a:r>
              <a:rPr lang="en-US" sz="1400" dirty="0" err="1">
                <a:solidFill>
                  <a:schemeClr val="bg1"/>
                </a:solidFill>
              </a:rPr>
              <a:t>relacionamentos</a:t>
            </a:r>
            <a:r>
              <a:rPr lang="en-US" sz="1400" dirty="0">
                <a:solidFill>
                  <a:schemeClr val="bg1"/>
                </a:solidFill>
              </a:rPr>
              <a:t> entre </a:t>
            </a:r>
            <a:r>
              <a:rPr lang="en-US" sz="1400" dirty="0" err="1">
                <a:solidFill>
                  <a:schemeClr val="bg1"/>
                </a:solidFill>
              </a:rPr>
              <a:t>coleções</a:t>
            </a:r>
            <a:r>
              <a:rPr lang="en-US" sz="1400" dirty="0">
                <a:solidFill>
                  <a:schemeClr val="bg1"/>
                </a:solidFill>
              </a:rPr>
              <a:t> (Referencing vs Embedding)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Modelação</a:t>
            </a:r>
            <a:r>
              <a:rPr lang="en-US" sz="1400" dirty="0">
                <a:solidFill>
                  <a:schemeClr val="bg1"/>
                </a:solidFill>
              </a:rPr>
              <a:t> dos schemas mongoose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bg1"/>
                </a:solidFill>
              </a:rPr>
              <a:t>Identificação</a:t>
            </a:r>
            <a:r>
              <a:rPr lang="en-US" sz="1400" dirty="0">
                <a:solidFill>
                  <a:schemeClr val="bg1"/>
                </a:solidFill>
              </a:rPr>
              <a:t> do </a:t>
            </a:r>
            <a:r>
              <a:rPr lang="en-US" sz="1400" dirty="0" err="1">
                <a:solidFill>
                  <a:schemeClr val="bg1"/>
                </a:solidFill>
              </a:rPr>
              <a:t>dicionário</a:t>
            </a:r>
            <a:r>
              <a:rPr lang="en-US" sz="1400" dirty="0">
                <a:solidFill>
                  <a:schemeClr val="bg1"/>
                </a:solidFill>
              </a:rPr>
              <a:t> de endpoints da API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4C3426CD-BA46-E4B9-9307-1EFC3E539D39}"/>
              </a:ext>
            </a:extLst>
          </p:cNvPr>
          <p:cNvSpPr/>
          <p:nvPr/>
        </p:nvSpPr>
        <p:spPr>
          <a:xfrm>
            <a:off x="4572000" y="859535"/>
            <a:ext cx="4154979" cy="298262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pic>
        <p:nvPicPr>
          <p:cNvPr id="47" name="Picture 46" descr="A computer screen shot of a computer screen&#10;&#10;AI-generated content may be incorrect.">
            <a:extLst>
              <a:ext uri="{FF2B5EF4-FFF2-40B4-BE49-F238E27FC236}">
                <a16:creationId xmlns:a16="http://schemas.microsoft.com/office/drawing/2014/main" id="{A6C6A1B8-529E-4CBA-0CDE-39E13CFC31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2377" y="1077679"/>
            <a:ext cx="4154979" cy="2546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216153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E2F7AA3-5409-9572-A811-04E6E28C7C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1F0886-3316-D462-80CB-568E66768DCD}"/>
              </a:ext>
            </a:extLst>
          </p:cNvPr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3CD633-4A34-A53F-DF9F-377E44ACDCE8}"/>
              </a:ext>
            </a:extLst>
          </p:cNvPr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Orquestração</a:t>
            </a: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micro-</a:t>
            </a:r>
            <a:r>
              <a:rPr lang="en-US" sz="2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serviços</a:t>
            </a:r>
            <a:endParaRPr lang="en-US" sz="2800" dirty="0"/>
          </a:p>
        </p:txBody>
      </p:sp>
      <p:sp>
        <p:nvSpPr>
          <p:cNvPr id="44" name="Shape 32">
            <a:extLst>
              <a:ext uri="{FF2B5EF4-FFF2-40B4-BE49-F238E27FC236}">
                <a16:creationId xmlns:a16="http://schemas.microsoft.com/office/drawing/2014/main" id="{9106CEAF-25E4-06ED-FB3C-3E0BE5076279}"/>
              </a:ext>
            </a:extLst>
          </p:cNvPr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14">
            <a:extLst>
              <a:ext uri="{FF2B5EF4-FFF2-40B4-BE49-F238E27FC236}">
                <a16:creationId xmlns:a16="http://schemas.microsoft.com/office/drawing/2014/main" id="{8F24E759-4306-3A70-4E14-E95154876BE2}"/>
              </a:ext>
            </a:extLst>
          </p:cNvPr>
          <p:cNvSpPr/>
          <p:nvPr/>
        </p:nvSpPr>
        <p:spPr>
          <a:xfrm>
            <a:off x="457201" y="859535"/>
            <a:ext cx="3653406" cy="346329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Separação</a:t>
            </a:r>
            <a:r>
              <a:rPr lang="en-US" dirty="0">
                <a:solidFill>
                  <a:schemeClr val="bg1"/>
                </a:solidFill>
              </a:rPr>
              <a:t> de micro-</a:t>
            </a:r>
            <a:r>
              <a:rPr lang="en-US" dirty="0" err="1">
                <a:solidFill>
                  <a:schemeClr val="bg1"/>
                </a:solidFill>
              </a:rPr>
              <a:t>serviços</a:t>
            </a:r>
            <a:r>
              <a:rPr lang="en-US" dirty="0">
                <a:solidFill>
                  <a:schemeClr val="bg1"/>
                </a:solidFill>
              </a:rPr>
              <a:t> com 4 containers docker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Orquestração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dirty="0" err="1">
                <a:solidFill>
                  <a:schemeClr val="bg1"/>
                </a:solidFill>
              </a:rPr>
              <a:t>através</a:t>
            </a:r>
            <a:r>
              <a:rPr lang="en-US" dirty="0">
                <a:solidFill>
                  <a:schemeClr val="bg1"/>
                </a:solidFill>
              </a:rPr>
              <a:t> de docker compose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Portabilidade</a:t>
            </a: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>
              <a:solidFill>
                <a:schemeClr val="bg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solidFill>
                  <a:schemeClr val="bg1"/>
                </a:solidFill>
              </a:rPr>
              <a:t>Funcionalidade</a:t>
            </a:r>
            <a:r>
              <a:rPr lang="en-US" dirty="0">
                <a:solidFill>
                  <a:schemeClr val="bg1"/>
                </a:solidFill>
              </a:rPr>
              <a:t>: </a:t>
            </a:r>
            <a:r>
              <a:rPr lang="en-US" dirty="0" err="1">
                <a:solidFill>
                  <a:schemeClr val="bg1"/>
                </a:solidFill>
              </a:rPr>
              <a:t>todo</a:t>
            </a:r>
            <a:r>
              <a:rPr lang="en-US" dirty="0">
                <a:solidFill>
                  <a:schemeClr val="bg1"/>
                </a:solidFill>
              </a:rPr>
              <a:t> o Sistema </a:t>
            </a:r>
            <a:r>
              <a:rPr lang="en-US" dirty="0" err="1">
                <a:solidFill>
                  <a:schemeClr val="bg1"/>
                </a:solidFill>
              </a:rPr>
              <a:t>pode</a:t>
            </a:r>
            <a:r>
              <a:rPr lang="en-US" dirty="0">
                <a:solidFill>
                  <a:schemeClr val="bg1"/>
                </a:solidFill>
              </a:rPr>
              <a:t> ser </a:t>
            </a:r>
            <a:r>
              <a:rPr lang="en-US" dirty="0" err="1">
                <a:solidFill>
                  <a:schemeClr val="bg1"/>
                </a:solidFill>
              </a:rPr>
              <a:t>executado</a:t>
            </a:r>
            <a:r>
              <a:rPr lang="en-US" dirty="0">
                <a:solidFill>
                  <a:schemeClr val="bg1"/>
                </a:solidFill>
              </a:rPr>
              <a:t> a </a:t>
            </a:r>
            <a:r>
              <a:rPr lang="en-US" dirty="0" err="1">
                <a:solidFill>
                  <a:schemeClr val="bg1"/>
                </a:solidFill>
              </a:rPr>
              <a:t>partir</a:t>
            </a:r>
            <a:r>
              <a:rPr lang="en-US" dirty="0">
                <a:solidFill>
                  <a:schemeClr val="bg1"/>
                </a:solidFill>
              </a:rPr>
              <a:t> de 1 </a:t>
            </a:r>
            <a:r>
              <a:rPr lang="en-US" dirty="0" err="1">
                <a:solidFill>
                  <a:schemeClr val="bg1"/>
                </a:solidFill>
              </a:rPr>
              <a:t>comando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3F5E1A1-C00C-8611-1C93-3298E3B68BE9}"/>
              </a:ext>
            </a:extLst>
          </p:cNvPr>
          <p:cNvSpPr/>
          <p:nvPr/>
        </p:nvSpPr>
        <p:spPr>
          <a:xfrm>
            <a:off x="4308437" y="859535"/>
            <a:ext cx="4576195" cy="3463290"/>
          </a:xfrm>
          <a:prstGeom prst="rect">
            <a:avLst/>
          </a:prstGeom>
          <a:solidFill>
            <a:srgbClr val="1E1E1E"/>
          </a:solidFill>
          <a:ln>
            <a:solidFill>
              <a:srgbClr val="1E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5725D-ABFD-622F-D90C-467E796F33C5}"/>
              </a:ext>
            </a:extLst>
          </p:cNvPr>
          <p:cNvSpPr txBox="1"/>
          <p:nvPr/>
        </p:nvSpPr>
        <p:spPr>
          <a:xfrm>
            <a:off x="4308437" y="830526"/>
            <a:ext cx="4576195" cy="3139321"/>
          </a:xfrm>
          <a:prstGeom prst="rect">
            <a:avLst/>
          </a:prstGeom>
          <a:noFill/>
        </p:spPr>
        <p:txBody>
          <a:bodyPr wrap="square" lIns="45720">
            <a:spAutoFit/>
          </a:bodyPr>
          <a:lstStyle/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services: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volumes: [mongo-data:/data/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pt-PT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Database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mongodb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en-US" sz="1100" dirty="0">
                <a:solidFill>
                  <a:srgbClr val="D0E0E0"/>
                </a:solidFill>
                <a:latin typeface="Consolas"/>
              </a:rPr>
              <a:t>    ports: “${DATA_API_PORT}:3001”</a:t>
            </a:r>
          </a:p>
          <a:p>
            <a:pPr>
              <a:lnSpc>
                <a:spcPct val="100000"/>
              </a:lnSpc>
            </a:pPr>
            <a:endParaRPr lang="en-US"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ln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Backend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depends_on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[data-</a:t>
            </a:r>
            <a:r>
              <a:rPr sz="1100" dirty="0" err="1">
                <a:solidFill>
                  <a:srgbClr val="D0E0E0"/>
                </a:solidFill>
                <a:latin typeface="Consolas"/>
              </a:rPr>
              <a:t>api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]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 </a:t>
            </a:r>
            <a:r>
              <a:rPr lang="en-US" sz="1100" dirty="0">
                <a:solidFill>
                  <a:srgbClr val="D0E0E0"/>
                </a:solidFill>
                <a:latin typeface="Consolas"/>
              </a:rPr>
              <a:t>“${LN_API_PORT}:3002”</a:t>
            </a:r>
          </a:p>
          <a:p>
            <a:pPr>
              <a:lnSpc>
                <a:spcPct val="100000"/>
              </a:lnSpc>
            </a:pP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</a:p>
          <a:p>
            <a:pPr>
              <a:lnSpc>
                <a:spcPct val="100000"/>
              </a:lnSpc>
            </a:pPr>
            <a:r>
              <a:rPr sz="1100" dirty="0">
                <a:solidFill>
                  <a:srgbClr val="D0E0E0"/>
                </a:solidFill>
                <a:latin typeface="Consolas"/>
              </a:rPr>
              <a:t>    build: ./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Frontend</a:t>
            </a:r>
            <a:endParaRPr sz="1100" dirty="0">
              <a:solidFill>
                <a:srgbClr val="D0E0E0"/>
              </a:solidFill>
              <a:latin typeface="Consolas"/>
            </a:endParaRPr>
          </a:p>
          <a:p>
            <a:pPr>
              <a:lnSpc>
                <a:spcPct val="100000"/>
              </a:lnSpc>
            </a:pPr>
            <a:r>
              <a:rPr lang="pt-PT" sz="1100" dirty="0">
                <a:solidFill>
                  <a:srgbClr val="D0E0E0"/>
                </a:solidFill>
                <a:latin typeface="Consolas"/>
              </a:rPr>
              <a:t>    </a:t>
            </a:r>
            <a:r>
              <a:rPr lang="pt-PT" sz="1100" dirty="0" err="1">
                <a:solidFill>
                  <a:srgbClr val="D0E0E0"/>
                </a:solidFill>
                <a:latin typeface="Consolas"/>
              </a:rPr>
              <a:t>ports</a:t>
            </a:r>
            <a:r>
              <a:rPr sz="1100" dirty="0">
                <a:solidFill>
                  <a:srgbClr val="D0E0E0"/>
                </a:solidFill>
                <a:latin typeface="Consolas"/>
              </a:rPr>
              <a:t>:</a:t>
            </a:r>
            <a:r>
              <a:rPr lang="pt-PT" sz="1100" dirty="0">
                <a:solidFill>
                  <a:srgbClr val="D0E0E0"/>
                </a:solidFill>
                <a:latin typeface="Consolas"/>
              </a:rPr>
              <a:t>”3000:3000"</a:t>
            </a:r>
            <a:endParaRPr sz="1100" dirty="0">
              <a:solidFill>
                <a:srgbClr val="D0E0E0"/>
              </a:solidFill>
              <a:latin typeface="Consolas"/>
            </a:endParaRPr>
          </a:p>
        </p:txBody>
      </p:sp>
    </p:spTree>
    <p:extLst>
      <p:ext uri="{BB962C8B-B14F-4D97-AF65-F5344CB8AC3E}">
        <p14:creationId xmlns:p14="http://schemas.microsoft.com/office/powerpoint/2010/main" val="36576093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Controlo de Acessos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274320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74320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274320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NIF/Nº Mecan.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45920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993392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93392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993392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BCrypt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993392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 hash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64992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712464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712464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12464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12464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 HMAC-SHA256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4064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431536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431536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31536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RBAC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31536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por cargo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803136" y="1417320"/>
            <a:ext cx="347472" cy="45720"/>
          </a:xfrm>
          <a:prstGeom prst="rect">
            <a:avLst/>
          </a:prstGeom>
          <a:solidFill>
            <a:srgbClr val="334155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150608" y="960120"/>
            <a:ext cx="1371600" cy="1005840"/>
          </a:xfrm>
          <a:prstGeom prst="ellipse">
            <a:avLst/>
          </a:prstGeom>
          <a:solidFill>
            <a:srgbClr val="1E3A5F"/>
          </a:solidFill>
          <a:ln w="254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150608" y="987552"/>
            <a:ext cx="1371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50608" y="14173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Sessão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50608" y="2103120"/>
            <a:ext cx="1371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8h, logout limpa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274320" y="2514600"/>
            <a:ext cx="8595360" cy="347472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6576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228600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754880" y="2560320"/>
            <a:ext cx="22860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Permissões Principais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274320" y="290779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6576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286000" y="294436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/FixNRide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4754880" y="294436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Agendamento, faturas, catálogo, Click &amp; Collect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274320" y="331927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/>
          <p:cNvSpPr/>
          <p:nvPr/>
        </p:nvSpPr>
        <p:spPr>
          <a:xfrm>
            <a:off x="36576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OPERADOR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2286000" y="335584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/FixNSell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4754880" y="335584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Vendas, entregas, encomendas, faturação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274320" y="3730752"/>
            <a:ext cx="8595360" cy="39319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Text 39"/>
          <p:cNvSpPr/>
          <p:nvPr/>
        </p:nvSpPr>
        <p:spPr>
          <a:xfrm>
            <a:off x="36576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MECÂNICO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2286000" y="376732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/FixNRepair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4754880" y="376732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Agenda, diagnósticos, peças, estado serviços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274320" y="4142232"/>
            <a:ext cx="8595360" cy="39319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36576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286000" y="4178808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/FixNManage +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restantes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754880" y="4178808"/>
            <a:ext cx="4023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total: utilizadores, stock, KPIs, promoções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8FBA7D-ECF4-C339-AF13-82AB0055F59E}"/>
              </a:ext>
            </a:extLst>
          </p:cNvPr>
          <p:cNvSpPr txBox="1"/>
          <p:nvPr/>
        </p:nvSpPr>
        <p:spPr>
          <a:xfrm>
            <a:off x="274320" y="4636008"/>
            <a:ext cx="8595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Web, </a:t>
            </a:r>
            <a:r>
              <a:rPr lang="en-US" dirty="0" err="1">
                <a:solidFill>
                  <a:schemeClr val="bg1"/>
                </a:solidFill>
              </a:rPr>
              <a:t>Lógica</a:t>
            </a:r>
            <a:r>
              <a:rPr lang="en-US" dirty="0">
                <a:solidFill>
                  <a:schemeClr val="bg1"/>
                </a:solidFill>
              </a:rPr>
              <a:t> de Negócios e API de dados </a:t>
            </a:r>
            <a:r>
              <a:rPr lang="en-US" dirty="0" err="1">
                <a:solidFill>
                  <a:schemeClr val="bg1"/>
                </a:solidFill>
              </a:rPr>
              <a:t>implementam</a:t>
            </a:r>
            <a:r>
              <a:rPr lang="en-US" dirty="0">
                <a:solidFill>
                  <a:schemeClr val="bg1"/>
                </a:solidFill>
              </a:rPr>
              <a:t> </a:t>
            </a:r>
            <a:r>
              <a:rPr lang="en-US" b="1" dirty="0" err="1">
                <a:solidFill>
                  <a:schemeClr val="bg1"/>
                </a:solidFill>
              </a:rPr>
              <a:t>Autorização</a:t>
            </a:r>
            <a:r>
              <a:rPr lang="en-US" dirty="0">
                <a:solidFill>
                  <a:schemeClr val="bg1"/>
                </a:solidFill>
              </a:rPr>
              <a:t> e </a:t>
            </a:r>
            <a:r>
              <a:rPr lang="en-US" b="1" dirty="0" err="1">
                <a:solidFill>
                  <a:schemeClr val="bg1"/>
                </a:solidFill>
              </a:rPr>
              <a:t>Autenticação</a:t>
            </a:r>
            <a:endParaRPr lang="en-US" b="1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 - IA Dev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Bar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</a:ln>
        </p:spPr>
        <p:txBody>
          <a:bodyPr/>
          <a:lstStyle/>
          <a:p>
            <a:endParaRPr lang="en-US"/>
          </a:p>
        </p:txBody>
      </p:sp>
      <p:sp>
        <p:nvSpPr>
          <p:cNvPr id="3" name="Title"/>
          <p:cNvSpPr/>
          <p:nvPr/>
        </p:nvSpPr>
        <p:spPr>
          <a:xfrm>
            <a:off x="457200" y="182880"/>
            <a:ext cx="8229600" cy="54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2800" b="1" dirty="0">
                <a:solidFill>
                  <a:srgbClr val="FFFFFF"/>
                </a:solidFill>
                <a:latin typeface="Calibri" pitchFamily="34" charset="0"/>
              </a:rPr>
              <a:t>3ª Fase: Desenvolvimento com Recurso a IA</a:t>
            </a:r>
          </a:p>
        </p:txBody>
      </p:sp>
      <p:sp>
        <p:nvSpPr>
          <p:cNvPr id="4" name="Ref"/>
          <p:cNvSpPr/>
          <p:nvPr/>
        </p:nvSpPr>
        <p:spPr>
          <a:xfrm>
            <a:off x="457200" y="720000"/>
            <a:ext cx="8229600" cy="27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Cap. 8 do Relatório — Geração de Código com Recurso a Inteligência Artificial</a:t>
            </a:r>
          </a:p>
        </p:txBody>
      </p:sp>
      <p:sp>
        <p:nvSpPr>
          <p:cNvPr id="10" name="Left Card"/>
          <p:cNvSpPr/>
          <p:nvPr/>
        </p:nvSpPr>
        <p:spPr>
          <a:xfrm>
            <a:off x="27432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Left Title Bar"/>
          <p:cNvSpPr/>
          <p:nvPr/>
        </p:nvSpPr>
        <p:spPr>
          <a:xfrm>
            <a:off x="274320" y="1090000"/>
            <a:ext cx="4114800" cy="54864"/>
          </a:xfrm>
          <a:prstGeom prst="rect">
            <a:avLst/>
          </a:prstGeom>
          <a:solidFill>
            <a:srgbClr val="0EA5E9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eft Card Content"/>
          <p:cNvSpPr/>
          <p:nvPr/>
        </p:nvSpPr>
        <p:spPr>
          <a:xfrm>
            <a:off x="41148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0EA5E9"/>
                </a:solidFill>
                <a:latin typeface="Calibri" pitchFamily="34" charset="0"/>
              </a:rPr>
              <a:t>Modelo e Estratégia</a:t>
            </a:r>
          </a:p>
          <a:p>
            <a:pPr marL="0" indent="0">
              <a:buNone/>
            </a:pPr>
            <a:r>
              <a:rPr lang="pt-PT" sz="1050" dirty="0">
                <a:solidFill>
                  <a:srgbClr val="E2E8F0"/>
                </a:solidFill>
                <a:latin typeface="Calibri" pitchFamily="34" charset="0"/>
              </a:rPr>
              <a:t>Claude Sonnet 4.6 (Anthropic) via Claude Code (VS Code)</a:t>
            </a:r>
          </a:p>
          <a:p>
            <a:pPr marL="0" indent="0">
              <a:buNone/>
            </a:pPr>
            <a:endParaRPr lang="pt-PT" sz="105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Fragmentação por Sessões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isoladas por microsserviço para evitar degradação da janela de contexto. Cada sessão iniciada com system brief estruturado (arquitetura + Schemas + endpoints + regras de negócio).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Taxonomia de 3 Tipos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Sessões de camada • Sessões de módulo • Sessões de correção cirúrgica</a:t>
            </a:r>
          </a:p>
          <a:p>
            <a:pPr marL="0" indent="0">
              <a:buNone/>
            </a:pPr>
            <a:endParaRPr lang="pt-PT" sz="1000" dirty="0"/>
          </a:p>
          <a:p>
            <a:pPr marL="0" indent="0">
              <a:buNone/>
            </a:pPr>
            <a:r>
              <a:rPr lang="pt-PT" sz="1200" b="1" dirty="0">
                <a:solidFill>
                  <a:srgbClr val="FFFFFF"/>
                </a:solidFill>
                <a:latin typeface="Calibri" pitchFamily="34" charset="0"/>
              </a:rPr>
              <a:t>Cobertura por Camada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Schemas Mongoose • Controllers Node.js • Services .NET • Componentes React + TanStack Query</a:t>
            </a:r>
          </a:p>
        </p:txBody>
      </p:sp>
      <p:sp>
        <p:nvSpPr>
          <p:cNvPr id="20" name="Right Card"/>
          <p:cNvSpPr/>
          <p:nvPr/>
        </p:nvSpPr>
        <p:spPr>
          <a:xfrm>
            <a:off x="4754880" y="1090000"/>
            <a:ext cx="4114800" cy="360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>
            <a:outerShdw blurRad="101600" dist="38100" dir="8100000" algn="bl" rotWithShape="0">
              <a:srgbClr val="000000">
                <a:alpha val="30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1" name="Right Title Bar"/>
          <p:cNvSpPr/>
          <p:nvPr/>
        </p:nvSpPr>
        <p:spPr>
          <a:xfrm>
            <a:off x="4754880" y="1090000"/>
            <a:ext cx="4114800" cy="54864"/>
          </a:xfrm>
          <a:prstGeom prst="rect">
            <a:avLst/>
          </a:prstGeom>
          <a:solidFill>
            <a:srgbClr val="6366F1"/>
          </a:solidFill>
          <a:ln w="0">
            <a:noFill/>
          </a:ln>
        </p:spPr>
        <p:txBody>
          <a:bodyPr/>
          <a:lstStyle/>
          <a:p>
            <a:endParaRPr/>
          </a:p>
        </p:txBody>
      </p:sp>
      <p:sp>
        <p:nvSpPr>
          <p:cNvPr id="22" name="Right Card Content"/>
          <p:cNvSpPr/>
          <p:nvPr/>
        </p:nvSpPr>
        <p:spPr>
          <a:xfrm>
            <a:off x="4892040" y="1160000"/>
            <a:ext cx="3840480" cy="346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pt-PT" sz="1400" b="1" dirty="0">
                <a:solidFill>
                  <a:srgbClr val="6366F1"/>
                </a:solidFill>
                <a:latin typeface="Calibri" pitchFamily="34" charset="0"/>
              </a:rPr>
              <a:t>Análise Crítica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22C55E"/>
                </a:solidFill>
                <a:latin typeface="Calibri" pitchFamily="34" charset="0"/>
              </a:rPr>
              <a:t>✓ Vantagens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Redução de 40–50% no tempo de implementação por camada. Código de qualidade estrutural consistente. Transferência implícita de conhecimento. Deteção proativa de lacunas de especificação.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EF4444"/>
                </a:solidFill>
                <a:latin typeface="Calibri" pitchFamily="34" charset="0"/>
              </a:rPr>
              <a:t>✗ Limitações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Dependência da qualidade do prompt. Riscos de alucinações (código plausível mas incorreto). Tendência para soluções genéricas. Sem visão sistémica entre sessões.</a:t>
            </a:r>
          </a:p>
          <a:p>
            <a:pPr marL="0" indent="0">
              <a:buNone/>
            </a:pPr>
            <a:endParaRPr lang="pt-PT" sz="900" dirty="0"/>
          </a:p>
          <a:p>
            <a:pPr marL="0" indent="0">
              <a:buNone/>
            </a:pPr>
            <a:r>
              <a:rPr lang="pt-PT" sz="1100" b="1" dirty="0">
                <a:solidFill>
                  <a:srgbClr val="F59E0B"/>
                </a:solidFill>
                <a:latin typeface="Calibri" pitchFamily="34" charset="0"/>
              </a:rPr>
              <a:t>ⓘ Code Smells Detetados</a:t>
            </a:r>
          </a:p>
          <a:p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</a:t>
            </a:r>
            <a:r>
              <a:rPr lang="pt-PT" sz="1000" dirty="0" err="1">
                <a:solidFill>
                  <a:srgbClr val="94A3B8"/>
                </a:solidFill>
                <a:latin typeface="Calibri" pitchFamily="34" charset="0"/>
              </a:rPr>
              <a:t>parseJwt</a:t>
            </a: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 duplicado (×5)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alert() nativo em vez de toasts </a:t>
            </a:r>
          </a:p>
          <a:p>
            <a:pPr marL="0" indent="0">
              <a:buNone/>
            </a:pPr>
            <a:r>
              <a:rPr lang="pt-PT" sz="1000" dirty="0">
                <a:solidFill>
                  <a:srgbClr val="94A3B8"/>
                </a:solidFill>
                <a:latin typeface="Calibri" pitchFamily="34" charset="0"/>
              </a:rPr>
              <a:t>• mapeamentos defensivos excessivos</a:t>
            </a:r>
          </a:p>
        </p:txBody>
      </p:sp>
      <p:sp>
        <p:nvSpPr>
          <p:cNvPr id="30" name="Quote"/>
          <p:cNvSpPr/>
          <p:nvPr/>
        </p:nvSpPr>
        <p:spPr>
          <a:xfrm>
            <a:off x="274320" y="4790000"/>
            <a:ext cx="8595360" cy="230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pt-PT" sz="1000" i="1" dirty="0">
                <a:solidFill>
                  <a:srgbClr val="64748B"/>
                </a:solidFill>
                <a:latin typeface="Calibri" pitchFamily="34" charset="0"/>
              </a:rPr>
              <a:t>“A IA funcionou como amplificador de capacidade — não como substituto do engenheiro de software.”</a:t>
            </a:r>
          </a:p>
        </p:txBody>
      </p:sp>
      <p:sp>
        <p:nvSpPr>
          <p:cNvPr id="31" name="BottomBar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4ª Fase: Verificação, Validação &amp; Qualidade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Testes de Stress — Postman Performance – API de dados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74320" y="1261872"/>
            <a:ext cx="4937760" cy="347472"/>
          </a:xfrm>
          <a:prstGeom prst="rect">
            <a:avLst/>
          </a:prstGeom>
          <a:solidFill>
            <a:srgbClr val="1E3A5F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274320" y="128930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Cenário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27632" y="128930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148840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852928" y="128930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566160" y="128930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P99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361688" y="128930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74320" y="162763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274320" y="165506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Base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627632" y="165506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148840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4ms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852928" y="165506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5ms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566160" y="165506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11ms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361688" y="165506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1993392"/>
            <a:ext cx="4937760" cy="347472"/>
          </a:xfrm>
          <a:prstGeom prst="rect">
            <a:avLst/>
          </a:prstGeom>
          <a:solidFill>
            <a:srgbClr val="192133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274320" y="202082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Moderada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627632" y="202082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148840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16ms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852928" y="202082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19ms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66160" y="202082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31ms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361688" y="202082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74320" y="2359152"/>
            <a:ext cx="4937760" cy="347472"/>
          </a:xfrm>
          <a:prstGeom prst="rect">
            <a:avLst/>
          </a:prstGeom>
          <a:solidFill>
            <a:srgbClr val="1E293B"/>
          </a:solidFill>
          <a:ln w="635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274320" y="2386584"/>
            <a:ext cx="13258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de Pico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1627632" y="2386584"/>
            <a:ext cx="5029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2148840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39ms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2852928" y="2386584"/>
            <a:ext cx="685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46ms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66160" y="2386584"/>
            <a:ext cx="7772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76ms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361688" y="2386584"/>
            <a:ext cx="594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2%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274320" y="2761488"/>
            <a:ext cx="493776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365760" y="2798064"/>
            <a:ext cx="47548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ISO/IEC 25010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Adequação Funcional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194767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32004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Usabilidade</a:t>
            </a:r>
            <a:endParaRPr lang="en-US" sz="1050" dirty="0"/>
          </a:p>
        </p:txBody>
      </p:sp>
      <p:sp>
        <p:nvSpPr>
          <p:cNvPr id="39" name="Text 37"/>
          <p:cNvSpPr/>
          <p:nvPr/>
        </p:nvSpPr>
        <p:spPr>
          <a:xfrm>
            <a:off x="194767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32004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Manutenibilidade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194767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320040" y="4306824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Portabilidade</a:t>
            </a:r>
            <a:endParaRPr lang="en-US" sz="1050" dirty="0"/>
          </a:p>
        </p:txBody>
      </p:sp>
      <p:sp>
        <p:nvSpPr>
          <p:cNvPr id="43" name="Text 41"/>
          <p:cNvSpPr/>
          <p:nvPr/>
        </p:nvSpPr>
        <p:spPr>
          <a:xfrm>
            <a:off x="1947672" y="4306824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2926080" y="3154680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</a:t>
            </a:r>
            <a:endParaRPr lang="en-US" sz="1050" dirty="0"/>
          </a:p>
        </p:txBody>
      </p:sp>
      <p:sp>
        <p:nvSpPr>
          <p:cNvPr id="45" name="Text 43"/>
          <p:cNvSpPr/>
          <p:nvPr/>
        </p:nvSpPr>
        <p:spPr>
          <a:xfrm>
            <a:off x="4553712" y="3154680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EA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Adequada</a:t>
            </a:r>
            <a:endParaRPr lang="en-US" sz="1050" dirty="0"/>
          </a:p>
        </p:txBody>
      </p:sp>
      <p:sp>
        <p:nvSpPr>
          <p:cNvPr id="46" name="Text 44"/>
          <p:cNvSpPr/>
          <p:nvPr/>
        </p:nvSpPr>
        <p:spPr>
          <a:xfrm>
            <a:off x="2926080" y="3538728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Fiabilidade</a:t>
            </a:r>
            <a:endParaRPr lang="en-US" sz="1050" dirty="0"/>
          </a:p>
        </p:txBody>
      </p:sp>
      <p:sp>
        <p:nvSpPr>
          <p:cNvPr id="47" name="Text 45"/>
          <p:cNvSpPr/>
          <p:nvPr/>
        </p:nvSpPr>
        <p:spPr>
          <a:xfrm>
            <a:off x="4553712" y="3538728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Moderada</a:t>
            </a:r>
            <a:endParaRPr lang="en-US" sz="1050" dirty="0"/>
          </a:p>
        </p:txBody>
      </p:sp>
      <p:sp>
        <p:nvSpPr>
          <p:cNvPr id="48" name="Text 46"/>
          <p:cNvSpPr/>
          <p:nvPr/>
        </p:nvSpPr>
        <p:spPr>
          <a:xfrm>
            <a:off x="2926080" y="3922776"/>
            <a:ext cx="1600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</a:t>
            </a:r>
            <a:endParaRPr lang="en-US" sz="1050" dirty="0"/>
          </a:p>
        </p:txBody>
      </p:sp>
      <p:sp>
        <p:nvSpPr>
          <p:cNvPr id="49" name="Text 47"/>
          <p:cNvSpPr/>
          <p:nvPr/>
        </p:nvSpPr>
        <p:spPr>
          <a:xfrm>
            <a:off x="4553712" y="3922776"/>
            <a:ext cx="822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Suf. Dev.</a:t>
            </a:r>
            <a:endParaRPr lang="en-US" sz="1050" dirty="0"/>
          </a:p>
        </p:txBody>
      </p:sp>
      <p:sp>
        <p:nvSpPr>
          <p:cNvPr id="50" name="Shape 48"/>
          <p:cNvSpPr/>
          <p:nvPr/>
        </p:nvSpPr>
        <p:spPr>
          <a:xfrm>
            <a:off x="5486400" y="914400"/>
            <a:ext cx="3337560" cy="4069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Text 49"/>
          <p:cNvSpPr/>
          <p:nvPr/>
        </p:nvSpPr>
        <p:spPr>
          <a:xfrm>
            <a:off x="5577840" y="960120"/>
            <a:ext cx="3108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de Testes</a:t>
            </a:r>
            <a:endParaRPr lang="en-US" sz="1300" dirty="0"/>
          </a:p>
        </p:txBody>
      </p:sp>
      <p:pic>
        <p:nvPicPr>
          <p:cNvPr id="5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371600"/>
            <a:ext cx="256032" cy="256032"/>
          </a:xfrm>
          <a:prstGeom prst="rect">
            <a:avLst/>
          </a:prstGeom>
        </p:spPr>
      </p:pic>
      <p:sp>
        <p:nvSpPr>
          <p:cNvPr id="53" name="Text 50"/>
          <p:cNvSpPr/>
          <p:nvPr/>
        </p:nvSpPr>
        <p:spPr>
          <a:xfrm>
            <a:off x="5961888" y="1344168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(Postman)</a:t>
            </a:r>
            <a:endParaRPr lang="en-US" sz="1100" dirty="0"/>
          </a:p>
        </p:txBody>
      </p:sp>
      <p:sp>
        <p:nvSpPr>
          <p:cNvPr id="54" name="Text 51"/>
          <p:cNvSpPr/>
          <p:nvPr/>
        </p:nvSpPr>
        <p:spPr>
          <a:xfrm>
            <a:off x="5961888" y="16002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API completa</a:t>
            </a:r>
            <a:endParaRPr lang="en-US" sz="1000" dirty="0"/>
          </a:p>
        </p:txBody>
      </p:sp>
      <p:pic>
        <p:nvPicPr>
          <p:cNvPr id="5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1901952"/>
            <a:ext cx="256032" cy="256032"/>
          </a:xfrm>
          <a:prstGeom prst="rect">
            <a:avLst/>
          </a:prstGeom>
        </p:spPr>
      </p:pic>
      <p:sp>
        <p:nvSpPr>
          <p:cNvPr id="56" name="Text 52"/>
          <p:cNvSpPr/>
          <p:nvPr/>
        </p:nvSpPr>
        <p:spPr>
          <a:xfrm>
            <a:off x="5961888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(Manual)</a:t>
            </a:r>
            <a:endParaRPr lang="en-US" sz="1100" dirty="0"/>
          </a:p>
        </p:txBody>
      </p:sp>
      <p:sp>
        <p:nvSpPr>
          <p:cNvPr id="57" name="Text 53"/>
          <p:cNvSpPr/>
          <p:nvPr/>
        </p:nvSpPr>
        <p:spPr>
          <a:xfrm>
            <a:off x="5961888" y="2130552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perfis</a:t>
            </a:r>
            <a:endParaRPr lang="en-US" sz="1000" dirty="0"/>
          </a:p>
        </p:txBody>
      </p:sp>
      <p:pic>
        <p:nvPicPr>
          <p:cNvPr id="5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432304"/>
            <a:ext cx="256032" cy="256032"/>
          </a:xfrm>
          <a:prstGeom prst="rect">
            <a:avLst/>
          </a:prstGeom>
        </p:spPr>
      </p:pic>
      <p:sp>
        <p:nvSpPr>
          <p:cNvPr id="59" name="Text 54"/>
          <p:cNvSpPr/>
          <p:nvPr/>
        </p:nvSpPr>
        <p:spPr>
          <a:xfrm>
            <a:off x="5961888" y="240487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Aceitação</a:t>
            </a:r>
            <a:endParaRPr lang="en-US" sz="1100" dirty="0"/>
          </a:p>
        </p:txBody>
      </p:sp>
      <p:sp>
        <p:nvSpPr>
          <p:cNvPr id="60" name="Text 55"/>
          <p:cNvSpPr/>
          <p:nvPr/>
        </p:nvSpPr>
        <p:spPr>
          <a:xfrm>
            <a:off x="5961888" y="2660904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casos de teste</a:t>
            </a:r>
            <a:endParaRPr lang="en-US" sz="1000" dirty="0"/>
          </a:p>
        </p:txBody>
      </p:sp>
      <p:pic>
        <p:nvPicPr>
          <p:cNvPr id="61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962656"/>
            <a:ext cx="256032" cy="256032"/>
          </a:xfrm>
          <a:prstGeom prst="rect">
            <a:avLst/>
          </a:prstGeom>
        </p:spPr>
      </p:pic>
      <p:sp>
        <p:nvSpPr>
          <p:cNvPr id="62" name="Text 56"/>
          <p:cNvSpPr/>
          <p:nvPr/>
        </p:nvSpPr>
        <p:spPr>
          <a:xfrm>
            <a:off x="5961888" y="2935224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Stress (Postman Perf.)</a:t>
            </a:r>
            <a:endParaRPr lang="en-US" sz="1100" dirty="0"/>
          </a:p>
        </p:txBody>
      </p:sp>
      <p:sp>
        <p:nvSpPr>
          <p:cNvPr id="63" name="Text 57"/>
          <p:cNvSpPr/>
          <p:nvPr/>
        </p:nvSpPr>
        <p:spPr>
          <a:xfrm>
            <a:off x="5961888" y="3191256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 20, 50 VUs</a:t>
            </a:r>
            <a:endParaRPr lang="en-US" sz="1000" dirty="0"/>
          </a:p>
        </p:txBody>
      </p:sp>
      <p:sp>
        <p:nvSpPr>
          <p:cNvPr id="67" name="Shape 60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164592"/>
            <a:ext cx="8229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 &amp; Trabalho Futuro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11480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Objetivos Cumpridos</a:t>
            </a:r>
            <a:endParaRPr lang="en-US" sz="13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316736"/>
            <a:ext cx="228600" cy="2286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129844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22/22 requisitos funcionais implementados e validados</a:t>
            </a:r>
            <a:endParaRPr lang="en-US" sz="1100" dirty="0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1700784"/>
            <a:ext cx="228600" cy="22860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640080" y="1682496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4 camadas Docker — totalmente funcional</a:t>
            </a:r>
            <a:endParaRPr lang="en-US" sz="110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084832"/>
            <a:ext cx="228600" cy="228600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40080" y="2066544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portais React por perfil de utilizador</a:t>
            </a:r>
            <a:endParaRPr lang="en-US" sz="11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468880"/>
            <a:ext cx="228600" cy="228600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40080" y="2450592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Testes de integração ponta-a-ponta (Postman)</a:t>
            </a:r>
            <a:endParaRPr lang="en-US" sz="1100" dirty="0"/>
          </a:p>
        </p:txBody>
      </p:sp>
      <p:pic>
        <p:nvPicPr>
          <p:cNvPr id="14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2852928"/>
            <a:ext cx="228600" cy="22860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640080" y="283464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P95 &lt; 46ms a 50 utilizadores concorrentes</a:t>
            </a:r>
            <a:endParaRPr lang="en-US" sz="1100" dirty="0"/>
          </a:p>
        </p:txBody>
      </p:sp>
      <p:pic>
        <p:nvPicPr>
          <p:cNvPr id="16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236976"/>
            <a:ext cx="228600" cy="228600"/>
          </a:xfrm>
          <a:prstGeom prst="rect">
            <a:avLst/>
          </a:prstGeom>
        </p:spPr>
      </p:pic>
      <p:sp>
        <p:nvSpPr>
          <p:cNvPr id="17" name="Text 9"/>
          <p:cNvSpPr/>
          <p:nvPr/>
        </p:nvSpPr>
        <p:spPr>
          <a:xfrm>
            <a:off x="640080" y="3218688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Reflexão crítica sobre uso de LLMs no SDLC</a:t>
            </a:r>
            <a:endParaRPr lang="en-US" sz="1100" dirty="0"/>
          </a:p>
        </p:txBody>
      </p:sp>
      <p:sp>
        <p:nvSpPr>
          <p:cNvPr id="18" name="Shape 10"/>
          <p:cNvSpPr/>
          <p:nvPr/>
        </p:nvSpPr>
        <p:spPr>
          <a:xfrm>
            <a:off x="4663440" y="914400"/>
            <a:ext cx="4160520" cy="320040"/>
          </a:xfrm>
          <a:prstGeom prst="rect">
            <a:avLst/>
          </a:prstGeom>
          <a:solidFill>
            <a:srgbClr val="1E3A5F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1"/>
          <p:cNvSpPr/>
          <p:nvPr/>
        </p:nvSpPr>
        <p:spPr>
          <a:xfrm>
            <a:off x="4754880" y="950976"/>
            <a:ext cx="384048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Trabalho Futuro</a:t>
            </a:r>
            <a:endParaRPr lang="en-US" sz="1300" dirty="0"/>
          </a:p>
        </p:txBody>
      </p:sp>
      <p:sp>
        <p:nvSpPr>
          <p:cNvPr id="23" name="Shape 15"/>
          <p:cNvSpPr/>
          <p:nvPr/>
        </p:nvSpPr>
        <p:spPr>
          <a:xfrm>
            <a:off x="4663440" y="1394460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16"/>
          <p:cNvSpPr/>
          <p:nvPr/>
        </p:nvSpPr>
        <p:spPr>
          <a:xfrm>
            <a:off x="4663440" y="1429347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</a:t>
            </a:r>
            <a:endParaRPr lang="en-US" sz="750" dirty="0"/>
          </a:p>
        </p:txBody>
      </p:sp>
      <p:sp>
        <p:nvSpPr>
          <p:cNvPr id="25" name="Text 17"/>
          <p:cNvSpPr/>
          <p:nvPr/>
        </p:nvSpPr>
        <p:spPr>
          <a:xfrm>
            <a:off x="5394960" y="1377243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Implementar refresh tokens (sessões longas)</a:t>
            </a:r>
            <a:endParaRPr lang="en-US" sz="1050" dirty="0"/>
          </a:p>
        </p:txBody>
      </p:sp>
      <p:sp>
        <p:nvSpPr>
          <p:cNvPr id="29" name="Shape 21"/>
          <p:cNvSpPr/>
          <p:nvPr/>
        </p:nvSpPr>
        <p:spPr>
          <a:xfrm>
            <a:off x="4663440" y="1806558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2"/>
          <p:cNvSpPr/>
          <p:nvPr/>
        </p:nvSpPr>
        <p:spPr>
          <a:xfrm>
            <a:off x="4663440" y="1815702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MÉDIA</a:t>
            </a:r>
            <a:endParaRPr lang="en-US" sz="750" dirty="0"/>
          </a:p>
        </p:txBody>
      </p:sp>
      <p:sp>
        <p:nvSpPr>
          <p:cNvPr id="31" name="Text 23"/>
          <p:cNvSpPr/>
          <p:nvPr/>
        </p:nvSpPr>
        <p:spPr>
          <a:xfrm>
            <a:off x="5413248" y="179741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code smells remanescentes</a:t>
            </a:r>
            <a:endParaRPr lang="en-US" sz="1050" dirty="0"/>
          </a:p>
        </p:txBody>
      </p:sp>
      <p:sp>
        <p:nvSpPr>
          <p:cNvPr id="32" name="Shape 24"/>
          <p:cNvSpPr/>
          <p:nvPr/>
        </p:nvSpPr>
        <p:spPr>
          <a:xfrm>
            <a:off x="4663440" y="2181462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25"/>
          <p:cNvSpPr/>
          <p:nvPr/>
        </p:nvSpPr>
        <p:spPr>
          <a:xfrm>
            <a:off x="4663440" y="2190606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4" name="Text 26"/>
          <p:cNvSpPr/>
          <p:nvPr/>
        </p:nvSpPr>
        <p:spPr>
          <a:xfrm>
            <a:off x="5394960" y="221062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Aplicação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050" dirty="0" err="1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nativa</a:t>
            </a: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para mecânico</a:t>
            </a:r>
            <a:endParaRPr lang="en-US" sz="1050" dirty="0"/>
          </a:p>
        </p:txBody>
      </p:sp>
      <p:sp>
        <p:nvSpPr>
          <p:cNvPr id="35" name="Shape 27"/>
          <p:cNvSpPr/>
          <p:nvPr/>
        </p:nvSpPr>
        <p:spPr>
          <a:xfrm>
            <a:off x="4663440" y="2556366"/>
            <a:ext cx="685800" cy="292608"/>
          </a:xfrm>
          <a:prstGeom prst="rect">
            <a:avLst/>
          </a:prstGeom>
          <a:solidFill>
            <a:srgbClr val="1E293B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28"/>
          <p:cNvSpPr/>
          <p:nvPr/>
        </p:nvSpPr>
        <p:spPr>
          <a:xfrm>
            <a:off x="4663440" y="2565510"/>
            <a:ext cx="685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</a:t>
            </a:r>
            <a:endParaRPr lang="en-US" sz="750" dirty="0"/>
          </a:p>
        </p:txBody>
      </p:sp>
      <p:sp>
        <p:nvSpPr>
          <p:cNvPr id="37" name="Text 29"/>
          <p:cNvSpPr/>
          <p:nvPr/>
        </p:nvSpPr>
        <p:spPr>
          <a:xfrm>
            <a:off x="5394960" y="2574654"/>
            <a:ext cx="3291840" cy="3017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E2E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Integração MB WAY / Multibanco online</a:t>
            </a:r>
            <a:endParaRPr lang="en-US" sz="1050" dirty="0"/>
          </a:p>
        </p:txBody>
      </p:sp>
      <p:sp>
        <p:nvSpPr>
          <p:cNvPr id="40" name="Shape 32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914400" y="1371600"/>
            <a:ext cx="73152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52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60520" y="2514600"/>
            <a:ext cx="822960" cy="8229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14400" y="3520440"/>
            <a:ext cx="7315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10B98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docker compose up --build -d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914400" y="3977640"/>
            <a:ext cx="73152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http://localhost:3000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0" y="5074920"/>
            <a:ext cx="9144000" cy="68580"/>
          </a:xfrm>
          <a:prstGeom prst="rect">
            <a:avLst/>
          </a:prstGeom>
          <a:solidFill>
            <a:srgbClr val="6366F1"/>
          </a:solidFill>
          <a:ln w="12700">
            <a:solidFill>
              <a:srgbClr val="6366F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1266</Words>
  <Application>Microsoft Macintosh PowerPoint</Application>
  <PresentationFormat>On-screen Show (16:9)</PresentationFormat>
  <Paragraphs>297</Paragraphs>
  <Slides>16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Consolas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Fix'n'Ride — MobiFix</dc:title>
  <dc:subject>PptxGenJS Presentation</dc:subject>
  <dc:creator>PptxGenJS</dc:creator>
  <cp:lastModifiedBy>Diogo Esteves</cp:lastModifiedBy>
  <cp:revision>44</cp:revision>
  <dcterms:created xsi:type="dcterms:W3CDTF">2026-05-06T21:49:26Z</dcterms:created>
  <dcterms:modified xsi:type="dcterms:W3CDTF">2026-05-13T17:50:45Z</dcterms:modified>
</cp:coreProperties>
</file>