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3" r:id="rId5"/>
    <p:sldId id="261" r:id="rId6"/>
    <p:sldId id="259" r:id="rId7"/>
    <p:sldId id="260" r:id="rId8"/>
    <p:sldId id="271" r:id="rId9"/>
    <p:sldId id="270" r:id="rId10"/>
    <p:sldId id="269" r:id="rId11"/>
    <p:sldId id="272" r:id="rId12"/>
    <p:sldId id="262" r:id="rId13"/>
    <p:sldId id="268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10"/>
    <p:restoredTop sz="94610"/>
  </p:normalViewPr>
  <p:slideViewPr>
    <p:cSldViewPr snapToGrid="0" snapToObjects="1">
      <p:cViewPr>
        <p:scale>
          <a:sx n="149" d="100"/>
          <a:sy n="149" d="100"/>
        </p:scale>
        <p:origin x="22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147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FD1E8-E968-0D4A-AEFF-72170C27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E43CE-5F1A-B6BC-6F3B-91D81018C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C24B2-815F-DDE4-D668-0547B4DC9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C9E83-9439-1AC0-4919-B47E43C5F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55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8E4D6-5669-D1AA-583B-5E95C29B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9AA60-679A-9A69-7FC7-B20CCEE79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B955C-2397-8728-4C64-466BEC613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EDE7-B3EC-E265-F269-23F6FB94E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09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B7625-A897-B27C-C973-3FF7EFB4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F079A7-F5D2-A147-25EB-DF5C032A7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9B21B-6F65-3E73-1FF0-797CD244F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A024F-640E-895C-8C33-C452E77D32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70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A519-9FD0-83FE-E270-3E6A9DD3C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F1B29-7034-6A31-A032-198D1B021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B5D2E-068C-4B01-BFD1-3AD71B9E0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85242-E8D4-45BC-AFBC-CAC67B2F59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233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4.pn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977640" y="548640"/>
            <a:ext cx="1188720" cy="11887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7772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Fix'n'Ride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2971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</a:t>
            </a:r>
            <a:r>
              <a:rPr lang="en-US" sz="17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17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7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7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</a:t>
            </a:r>
            <a:r>
              <a:rPr lang="en-US" sz="17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Reparação</a:t>
            </a:r>
            <a:r>
              <a:rPr lang="en-US" sz="17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00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Trotinetes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Diogo Esteves · Diogo Fernandes · Jorge Fernandes · Rodrigo Fernandes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Laboratórios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IV · Universidade do Minho · 2025/2026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FE90460-9FE7-5B8E-CA45-5DFFE0736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Sistema de gestão para uma oficina de reparação de trotinetes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sz="2800" b="1" dirty="0">
                <a:solidFill>
                  <a:srgbClr val="FFFFFF"/>
                </a:solidFill>
                <a:latin typeface="Calibri" pitchFamily="34" charset="0"/>
              </a:rPr>
              <a:t>O Problema</a:t>
            </a:r>
          </a:p>
        </p:txBody>
      </p:sp>
      <p:sp>
        <p:nvSpPr>
          <p:cNvPr id="4" name="Shape 2"/>
          <p:cNvSpPr/>
          <p:nvPr/>
        </p:nvSpPr>
        <p:spPr>
          <a:xfrm>
            <a:off x="182592" y="860120"/>
            <a:ext cx="87811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pt-PT" sz="1200" dirty="0">
                <a:solidFill>
                  <a:srgbClr val="E2E8F0"/>
                </a:solidFill>
                <a:latin typeface="Calibri" pitchFamily="34" charset="0"/>
              </a:rPr>
              <a:t>A MobiFix opera numa oficina de trotinetes elétricas com processos totalmente manuais — folhas de cálculo, registos em papel e comunicação fragmentada — incapaz de escalar com a crescente procura.</a:t>
            </a:r>
          </a:p>
        </p:txBody>
      </p:sp>
      <p:sp>
        <p:nvSpPr>
          <p:cNvPr id="20" name="Shape Admin"/>
          <p:cNvSpPr/>
          <p:nvPr/>
        </p:nvSpPr>
        <p:spPr>
          <a:xfrm>
            <a:off x="182592" y="1760000"/>
            <a:ext cx="2057760" cy="27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Admi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728" y="1859560"/>
            <a:ext cx="380880" cy="380880"/>
          </a:xfrm>
          <a:prstGeom prst="rect">
            <a:avLst/>
          </a:prstGeom>
        </p:spPr>
      </p:pic>
      <p:sp>
        <p:nvSpPr>
          <p:cNvPr id="22" name="Text Admin Label"/>
          <p:cNvSpPr/>
          <p:nvPr/>
        </p:nvSpPr>
        <p:spPr>
          <a:xfrm>
            <a:off x="274432" y="2340000"/>
            <a:ext cx="18740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1300" b="1" dirty="0">
                <a:solidFill>
                  <a:srgbClr val="FFFFFF"/>
                </a:solidFill>
                <a:latin typeface="Calibri" pitchFamily="34" charset="0"/>
              </a:rPr>
              <a:t>Administração</a:t>
            </a:r>
          </a:p>
        </p:txBody>
      </p:sp>
      <p:sp>
        <p:nvSpPr>
          <p:cNvPr id="23" name="Text Admin Desc"/>
          <p:cNvSpPr/>
          <p:nvPr/>
        </p:nvSpPr>
        <p:spPr>
          <a:xfrm>
            <a:off x="274432" y="2730000"/>
            <a:ext cx="1874080" cy="7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Sem métricas em tempo real, sem controlo de stock, sem KPIs de rentabilidade.</a:t>
            </a:r>
          </a:p>
        </p:txBody>
      </p:sp>
      <p:sp>
        <p:nvSpPr>
          <p:cNvPr id="30" name="Shape Mec"/>
          <p:cNvSpPr/>
          <p:nvPr/>
        </p:nvSpPr>
        <p:spPr>
          <a:xfrm>
            <a:off x="2423712" y="1760000"/>
            <a:ext cx="2057760" cy="27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Mec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152" y="1887100"/>
            <a:ext cx="380880" cy="380880"/>
          </a:xfrm>
          <a:prstGeom prst="rect">
            <a:avLst/>
          </a:prstGeom>
        </p:spPr>
      </p:pic>
      <p:sp>
        <p:nvSpPr>
          <p:cNvPr id="32" name="Text Mec Label"/>
          <p:cNvSpPr/>
          <p:nvPr/>
        </p:nvSpPr>
        <p:spPr>
          <a:xfrm>
            <a:off x="2515552" y="2340000"/>
            <a:ext cx="18740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1300" b="1" dirty="0">
                <a:solidFill>
                  <a:srgbClr val="FFFFFF"/>
                </a:solidFill>
                <a:latin typeface="Calibri" pitchFamily="34" charset="0"/>
              </a:rPr>
              <a:t>Mecânicos</a:t>
            </a:r>
          </a:p>
        </p:txBody>
      </p:sp>
      <p:sp>
        <p:nvSpPr>
          <p:cNvPr id="33" name="Text Mec Desc"/>
          <p:cNvSpPr/>
          <p:nvPr/>
        </p:nvSpPr>
        <p:spPr>
          <a:xfrm>
            <a:off x="2515552" y="2730000"/>
            <a:ext cx="1874080" cy="7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Diagnósticos em papel, peças perdidas, faturação manual com erros frequentes.</a:t>
            </a:r>
          </a:p>
        </p:txBody>
      </p:sp>
      <p:sp>
        <p:nvSpPr>
          <p:cNvPr id="40" name="Shape Op"/>
          <p:cNvSpPr/>
          <p:nvPr/>
        </p:nvSpPr>
        <p:spPr>
          <a:xfrm>
            <a:off x="4664832" y="1760000"/>
            <a:ext cx="2057760" cy="27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Op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272" y="1887100"/>
            <a:ext cx="380880" cy="380880"/>
          </a:xfrm>
          <a:prstGeom prst="rect">
            <a:avLst/>
          </a:prstGeom>
        </p:spPr>
      </p:pic>
      <p:sp>
        <p:nvSpPr>
          <p:cNvPr id="42" name="Text Op Label"/>
          <p:cNvSpPr/>
          <p:nvPr/>
        </p:nvSpPr>
        <p:spPr>
          <a:xfrm>
            <a:off x="4756672" y="2340000"/>
            <a:ext cx="18740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1300" b="1" dirty="0">
                <a:solidFill>
                  <a:srgbClr val="FFFFFF"/>
                </a:solidFill>
                <a:latin typeface="Calibri" pitchFamily="34" charset="0"/>
              </a:rPr>
              <a:t>Operador</a:t>
            </a:r>
          </a:p>
        </p:txBody>
      </p:sp>
      <p:sp>
        <p:nvSpPr>
          <p:cNvPr id="43" name="Text Op Desc"/>
          <p:cNvSpPr/>
          <p:nvPr/>
        </p:nvSpPr>
        <p:spPr>
          <a:xfrm>
            <a:off x="4756672" y="2730000"/>
            <a:ext cx="1874080" cy="7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Balcão manual, vendas sem registo digital, encomendas por email sem rastreio.</a:t>
            </a:r>
          </a:p>
        </p:txBody>
      </p:sp>
      <p:sp>
        <p:nvSpPr>
          <p:cNvPr id="50" name="Shape Cli"/>
          <p:cNvSpPr/>
          <p:nvPr/>
        </p:nvSpPr>
        <p:spPr>
          <a:xfrm>
            <a:off x="6905952" y="1760000"/>
            <a:ext cx="2057760" cy="27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1" name="Image Cli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392" y="1887100"/>
            <a:ext cx="380880" cy="380880"/>
          </a:xfrm>
          <a:prstGeom prst="rect">
            <a:avLst/>
          </a:prstGeom>
        </p:spPr>
      </p:pic>
      <p:sp>
        <p:nvSpPr>
          <p:cNvPr id="52" name="Text Cli Label"/>
          <p:cNvSpPr/>
          <p:nvPr/>
        </p:nvSpPr>
        <p:spPr>
          <a:xfrm>
            <a:off x="6997792" y="2340000"/>
            <a:ext cx="187408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1300" b="1" dirty="0">
                <a:solidFill>
                  <a:srgbClr val="FFFFFF"/>
                </a:solidFill>
                <a:latin typeface="Calibri" pitchFamily="34" charset="0"/>
              </a:rPr>
              <a:t>Clientes</a:t>
            </a:r>
          </a:p>
        </p:txBody>
      </p:sp>
      <p:sp>
        <p:nvSpPr>
          <p:cNvPr id="53" name="Text Cli Desc"/>
          <p:cNvSpPr/>
          <p:nvPr/>
        </p:nvSpPr>
        <p:spPr>
          <a:xfrm>
            <a:off x="6997792" y="2730000"/>
            <a:ext cx="1874080" cy="7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Sem visibilidade do estado da reparação, sem agendamento online, sem transparência.</a:t>
            </a:r>
          </a:p>
        </p:txBody>
      </p:sp>
      <p:sp>
        <p:nvSpPr>
          <p:cNvPr id="18" name="Shape 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— Fix'n'Ride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multi-perfil que digitaliza e centraliza toda a operação da MobiFix — do agendamento à faturação.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100584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470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81328" y="1783080"/>
            <a:ext cx="100584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186537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1328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Mecânico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596896" y="1783080"/>
            <a:ext cx="100584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186537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96896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712464" y="1783080"/>
            <a:ext cx="1005840" cy="777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1648" y="186537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12464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83464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5800" y="27889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online de diagnósticos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29184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5800" y="32461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intervenções com preços fixos</a:t>
            </a:r>
            <a:endParaRPr lang="en-US" sz="11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749040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5800" y="37033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stock com alertas automáticos</a:t>
            </a:r>
            <a:endParaRPr lang="en-US" sz="11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2834640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154680" y="27889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&amp; Collect de peças</a:t>
            </a:r>
            <a:endParaRPr lang="en-US" sz="11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3291840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154680" y="32461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Faturação atómica com devoluções/notas de crédito</a:t>
            </a:r>
            <a:endParaRPr lang="en-US" sz="11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3749040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154680" y="37033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financeiro com KPIs</a:t>
            </a:r>
            <a:endParaRPr lang="en-US" sz="1150" dirty="0"/>
          </a:p>
        </p:txBody>
      </p:sp>
      <p:sp>
        <p:nvSpPr>
          <p:cNvPr id="38" name="Shape 2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 descr="A logo of a scooter&#10;&#10;AI-generated content may be incorrect.">
            <a:extLst>
              <a:ext uri="{FF2B5EF4-FFF2-40B4-BE49-F238E27FC236}">
                <a16:creationId xmlns:a16="http://schemas.microsoft.com/office/drawing/2014/main" id="{8DB3A38D-EE1D-A4B5-20B3-91178F5D7F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8112" y="896112"/>
            <a:ext cx="3367022" cy="32846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70953" y="18069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75488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1479" y="1005840"/>
            <a:ext cx="301546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</a:t>
            </a:r>
            <a:r>
              <a:rPr lang="en-US" sz="12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Conceção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Stories, entrevistas, </a:t>
            </a: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req., </a:t>
            </a: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modelação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use cases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475488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</a:t>
            </a:r>
            <a:r>
              <a:rPr lang="en-US" sz="1200" b="1" dirty="0" err="1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74294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chemeClr val="bg1"/>
                </a:solidFill>
              </a:rPr>
              <a:t>Especificação</a:t>
            </a:r>
            <a:r>
              <a:rPr lang="en-US" sz="1050" dirty="0">
                <a:solidFill>
                  <a:schemeClr val="bg1"/>
                </a:solidFill>
              </a:rPr>
              <a:t>, </a:t>
            </a:r>
            <a:r>
              <a:rPr lang="en-US" sz="1050" dirty="0" err="1">
                <a:solidFill>
                  <a:schemeClr val="bg1"/>
                </a:solidFill>
              </a:rPr>
              <a:t>Padrões</a:t>
            </a:r>
            <a:r>
              <a:rPr lang="en-US" sz="1050" dirty="0">
                <a:solidFill>
                  <a:schemeClr val="bg1"/>
                </a:solidFill>
              </a:rPr>
              <a:t> </a:t>
            </a:r>
            <a:r>
              <a:rPr lang="en-US" sz="1050" dirty="0" err="1">
                <a:solidFill>
                  <a:schemeClr val="bg1"/>
                </a:solidFill>
              </a:rPr>
              <a:t>Arquitetutais</a:t>
            </a:r>
            <a:r>
              <a:rPr lang="en-US" sz="1050" dirty="0">
                <a:solidFill>
                  <a:schemeClr val="bg1"/>
                </a:solidFill>
              </a:rPr>
              <a:t>, </a:t>
            </a:r>
            <a:r>
              <a:rPr lang="en-US" sz="1050" dirty="0" err="1">
                <a:solidFill>
                  <a:schemeClr val="bg1"/>
                </a:solidFill>
              </a:rPr>
              <a:t>Modelação</a:t>
            </a:r>
            <a:r>
              <a:rPr lang="en-US" sz="1050" dirty="0">
                <a:solidFill>
                  <a:schemeClr val="bg1"/>
                </a:solidFill>
              </a:rPr>
              <a:t> UML e </a:t>
            </a:r>
            <a:r>
              <a:rPr lang="en-US" sz="1050" dirty="0" err="1">
                <a:solidFill>
                  <a:schemeClr val="bg1"/>
                </a:solidFill>
              </a:rPr>
              <a:t>Prototipagem</a:t>
            </a:r>
            <a:r>
              <a:rPr lang="en-US" sz="105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75488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293273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</a:t>
            </a:r>
            <a:r>
              <a:rPr lang="en-US" sz="1200" b="1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b="1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218688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dados, </a:t>
            </a: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LN, </a:t>
            </a: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4754880" cy="74980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79" y="3749040"/>
            <a:ext cx="379805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4: Verificação, </a:t>
            </a:r>
            <a:r>
              <a:rPr lang="en-US" sz="12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2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7443" y="411698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cases, sugestões de teste, code smells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49240" y="960120"/>
            <a:ext cx="3520440" cy="146304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051560"/>
            <a:ext cx="548640" cy="5486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172200" y="10241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40–50%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5440680" y="16459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tempo de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estimada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graças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LLMs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349240" y="2514600"/>
            <a:ext cx="35204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40680" y="2560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 Identificados</a:t>
            </a:r>
            <a:endParaRPr lang="en-US" sz="12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953512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742432" y="2926080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parseJwt duplicado (×5 componentes)</a:t>
            </a:r>
            <a:endParaRPr lang="en-US" sz="10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771" y="3438144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715000" y="3433364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alert() nativo em vez de toasts</a:t>
            </a:r>
            <a:endParaRPr lang="en-US" sz="105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922776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715000" y="3895344"/>
            <a:ext cx="3017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Mapeamentos defensivos excessivos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Fase: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Requisitos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28600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9669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Funcionais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228600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0253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88720" y="21488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Não Funcionais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228600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300837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88720" y="3154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228600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401421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188720" y="41605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960120"/>
            <a:ext cx="27432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1752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Levantamento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Questionários (formato livre)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1764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Observação Direta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211226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Entrevistas Estruturadas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26080" y="2834640"/>
            <a:ext cx="27432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1752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UML Produzidos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Modelo de Domínio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584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Diagramas de Casos de Uso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8770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Diagramas de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169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Máquinas de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960120"/>
            <a:ext cx="28803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3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54480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537960" y="14630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Administradores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537960" y="17647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ROI, encomendas</a:t>
            </a:r>
            <a:endParaRPr lang="en-US" sz="10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313432"/>
            <a:ext cx="320040" cy="3200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537960" y="22219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Mecânicos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537960" y="25237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Diagnóstico, reparações</a:t>
            </a:r>
            <a:endParaRPr lang="en-US" sz="10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072384"/>
            <a:ext cx="320040" cy="32004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537960" y="29809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537960" y="32826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Balcão, vendas, entregas</a:t>
            </a:r>
            <a:endParaRPr lang="en-US" sz="10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831336"/>
            <a:ext cx="320040" cy="32004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537960" y="373989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6537960" y="4041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Agendamento, rastreio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Fase: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126480" cy="685800"/>
          </a:xfrm>
          <a:prstGeom prst="rect">
            <a:avLst/>
          </a:prstGeom>
          <a:solidFill>
            <a:srgbClr val="1E293B"/>
          </a:solidFill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3327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05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+ TanStack Query + Tailwind CSS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719072"/>
            <a:ext cx="6126480" cy="6858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8366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85623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Negócios — ASP.NET Core (.NET 8) + JWT + BCrypt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5760" y="2560320"/>
            <a:ext cx="6126480" cy="68580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2491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697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 — Node.js / Express + Mongoose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65760" y="3401568"/>
            <a:ext cx="6126480" cy="6858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6616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5387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— MongoDB + Docker Volume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246120" y="1554480"/>
            <a:ext cx="18288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3246120" y="2404872"/>
            <a:ext cx="18288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3246120" y="3255264"/>
            <a:ext cx="18288" cy="16459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766560" y="868680"/>
            <a:ext cx="2011680" cy="32186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858000" y="914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Chave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8580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Separação física LN / Data API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6858000" y="1673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MongoDB vs. SQL Server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858000" y="20208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</a:t>
            </a: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conainers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Docker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858000" y="23682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RBAC com JWT claims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858000" y="2715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HttpClient tipado .NET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85800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TanStack Query cache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581912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43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73736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216712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993392" y="960120"/>
            <a:ext cx="1581912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172" y="11430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39112" y="173736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039112" y="216712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/ Schema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712464" y="960120"/>
            <a:ext cx="1581912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244" y="1143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58184" y="173736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758184" y="216712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431536" y="960120"/>
            <a:ext cx="1581912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316" y="11430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77256" y="173736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77256" y="216712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Negócios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7150608" y="960120"/>
            <a:ext cx="1581912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6388" y="114300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96328" y="173736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196328" y="216712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274320" y="2834640"/>
            <a:ext cx="1581912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01752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20040" y="361188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320040" y="404164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1993392" y="2834640"/>
            <a:ext cx="1581912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9172" y="3017520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039112" y="361188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2039112" y="404164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Estilização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3712464" y="2834640"/>
            <a:ext cx="1581912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8244" y="3017520"/>
            <a:ext cx="502920" cy="5029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758184" y="361188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3758184" y="404164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5431536" y="2834640"/>
            <a:ext cx="1581912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7316" y="3017520"/>
            <a:ext cx="502920" cy="50292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477256" y="361188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77256" y="404164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7150608" y="2834640"/>
            <a:ext cx="1581912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76388" y="3017520"/>
            <a:ext cx="502920" cy="50292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7196328" y="3611880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100" dirty="0"/>
          </a:p>
        </p:txBody>
      </p:sp>
      <p:sp>
        <p:nvSpPr>
          <p:cNvPr id="43" name="Text 31"/>
          <p:cNvSpPr/>
          <p:nvPr/>
        </p:nvSpPr>
        <p:spPr>
          <a:xfrm>
            <a:off x="7196328" y="4041648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/ Stress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29C7E-3145-AFC6-E306-5F0BB771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1AB843-295D-DFBE-2005-F6E2A45F4B74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F5E76C-510A-5AD2-15DF-497381F69162}"/>
              </a:ext>
            </a:extLst>
          </p:cNvPr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 Interface Web</a:t>
            </a:r>
            <a:endParaRPr lang="en-US" sz="2800" dirty="0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FF94FBA0-9836-BF9D-44E2-76115615598E}"/>
              </a:ext>
            </a:extLst>
          </p:cNvPr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33911265-0615-6AA4-C915-CE950503C96E}"/>
              </a:ext>
            </a:extLst>
          </p:cNvPr>
          <p:cNvSpPr/>
          <p:nvPr/>
        </p:nvSpPr>
        <p:spPr>
          <a:xfrm>
            <a:off x="457200" y="859535"/>
            <a:ext cx="3993704" cy="361564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Geração</a:t>
            </a:r>
            <a:r>
              <a:rPr lang="en-US" dirty="0">
                <a:solidFill>
                  <a:schemeClr val="bg1"/>
                </a:solidFill>
              </a:rPr>
              <a:t> de Mockups com Figma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Refinamento</a:t>
            </a:r>
            <a:r>
              <a:rPr lang="en-US" dirty="0">
                <a:solidFill>
                  <a:schemeClr val="bg1"/>
                </a:solidFill>
              </a:rPr>
              <a:t> Manual das Mockups, </a:t>
            </a:r>
            <a:r>
              <a:rPr lang="en-US" dirty="0" err="1">
                <a:solidFill>
                  <a:schemeClr val="bg1"/>
                </a:solidFill>
              </a:rPr>
              <a:t>consoante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requisitos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As Mockups </a:t>
            </a:r>
            <a:r>
              <a:rPr lang="en-US" dirty="0" err="1">
                <a:solidFill>
                  <a:schemeClr val="bg1"/>
                </a:solidFill>
              </a:rPr>
              <a:t>geradas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foram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ponto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partida</a:t>
            </a:r>
            <a:r>
              <a:rPr lang="en-US" dirty="0">
                <a:solidFill>
                  <a:schemeClr val="bg1"/>
                </a:solidFill>
              </a:rPr>
              <a:t> para o </a:t>
            </a:r>
            <a:r>
              <a:rPr lang="en-US" dirty="0" err="1">
                <a:solidFill>
                  <a:schemeClr val="bg1"/>
                </a:solidFill>
              </a:rPr>
              <a:t>desenvolvimento</a:t>
            </a:r>
            <a:r>
              <a:rPr lang="en-US" dirty="0">
                <a:solidFill>
                  <a:schemeClr val="bg1"/>
                </a:solidFill>
              </a:rPr>
              <a:t> da Interface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Melhorias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dirty="0" err="1">
                <a:solidFill>
                  <a:schemeClr val="bg1"/>
                </a:solidFill>
              </a:rPr>
              <a:t>otimizações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ao</a:t>
            </a:r>
            <a:r>
              <a:rPr lang="en-US" dirty="0">
                <a:solidFill>
                  <a:schemeClr val="bg1"/>
                </a:solidFill>
              </a:rPr>
              <a:t> design </a:t>
            </a:r>
            <a:r>
              <a:rPr lang="en-US" dirty="0" err="1">
                <a:solidFill>
                  <a:schemeClr val="bg1"/>
                </a:solidFill>
              </a:rPr>
              <a:t>foram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implementadas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seguinte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9" name="Picture 48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63FBD44C-08B0-1F02-6258-0925BE9C7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098" y="859535"/>
            <a:ext cx="4377819" cy="261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87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AECA1-0D59-0D1F-0390-46FBF77EA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3561EF-8722-2374-B39F-9134B98736AD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EFE5BD-EDCE-7834-ADF1-67371E2D700E}"/>
              </a:ext>
            </a:extLst>
          </p:cNvPr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Negócios</a:t>
            </a:r>
            <a:endParaRPr lang="en-US" sz="2800" dirty="0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A6A2F952-6776-88EF-501A-636F1AC50167}"/>
              </a:ext>
            </a:extLst>
          </p:cNvPr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3E2EDC54-E4C4-F87D-7E85-E4F5E9EE14B9}"/>
              </a:ext>
            </a:extLst>
          </p:cNvPr>
          <p:cNvSpPr/>
          <p:nvPr/>
        </p:nvSpPr>
        <p:spPr>
          <a:xfrm>
            <a:off x="457200" y="859535"/>
            <a:ext cx="5617874" cy="1769267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Modelação</a:t>
            </a:r>
            <a:r>
              <a:rPr lang="en-US" sz="1400" dirty="0">
                <a:solidFill>
                  <a:schemeClr val="bg1"/>
                </a:solidFill>
              </a:rPr>
              <a:t> do </a:t>
            </a:r>
            <a:r>
              <a:rPr lang="en-US" sz="1400" dirty="0" err="1">
                <a:solidFill>
                  <a:schemeClr val="bg1"/>
                </a:solidFill>
              </a:rPr>
              <a:t>Diagrama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Componentes</a:t>
            </a:r>
            <a:r>
              <a:rPr lang="en-US" sz="1400" dirty="0">
                <a:solidFill>
                  <a:schemeClr val="bg1"/>
                </a:solidFill>
              </a:rPr>
              <a:t> do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Modelação</a:t>
            </a:r>
            <a:r>
              <a:rPr lang="en-US" sz="1400" dirty="0">
                <a:solidFill>
                  <a:schemeClr val="bg1"/>
                </a:solidFill>
              </a:rPr>
              <a:t> dos </a:t>
            </a:r>
            <a:r>
              <a:rPr lang="en-US" sz="1400" dirty="0" err="1">
                <a:solidFill>
                  <a:schemeClr val="bg1"/>
                </a:solidFill>
              </a:rPr>
              <a:t>diagramas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classe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Modelação</a:t>
            </a:r>
            <a:r>
              <a:rPr lang="en-US" sz="1400" dirty="0">
                <a:solidFill>
                  <a:schemeClr val="bg1"/>
                </a:solidFill>
              </a:rPr>
              <a:t> dos </a:t>
            </a:r>
            <a:r>
              <a:rPr lang="en-US" sz="1400" dirty="0" err="1">
                <a:solidFill>
                  <a:schemeClr val="bg1"/>
                </a:solidFill>
              </a:rPr>
              <a:t>diagramas</a:t>
            </a:r>
            <a:r>
              <a:rPr lang="en-US" sz="1400" dirty="0">
                <a:solidFill>
                  <a:schemeClr val="bg1"/>
                </a:solidFill>
              </a:rPr>
              <a:t> de </a:t>
            </a:r>
            <a:r>
              <a:rPr lang="en-US" sz="1400" dirty="0" err="1">
                <a:solidFill>
                  <a:schemeClr val="bg1"/>
                </a:solidFill>
              </a:rPr>
              <a:t>sequência</a:t>
            </a:r>
            <a:r>
              <a:rPr lang="en-US" sz="1400" dirty="0">
                <a:solidFill>
                  <a:schemeClr val="bg1"/>
                </a:solidFill>
              </a:rPr>
              <a:t> dos </a:t>
            </a:r>
            <a:r>
              <a:rPr lang="en-US" sz="1400" dirty="0" err="1">
                <a:solidFill>
                  <a:schemeClr val="bg1"/>
                </a:solidFill>
              </a:rPr>
              <a:t>principais</a:t>
            </a:r>
            <a:r>
              <a:rPr lang="en-US" sz="1400" dirty="0">
                <a:solidFill>
                  <a:schemeClr val="bg1"/>
                </a:solidFill>
              </a:rPr>
              <a:t>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Definição</a:t>
            </a:r>
            <a:r>
              <a:rPr lang="en-US" sz="1400" dirty="0">
                <a:solidFill>
                  <a:schemeClr val="bg1"/>
                </a:solidFill>
              </a:rPr>
              <a:t> do </a:t>
            </a:r>
            <a:r>
              <a:rPr lang="en-US" sz="1400" dirty="0" err="1">
                <a:solidFill>
                  <a:schemeClr val="bg1"/>
                </a:solidFill>
              </a:rPr>
              <a:t>dicionário</a:t>
            </a:r>
            <a:r>
              <a:rPr lang="en-US" sz="1400" dirty="0">
                <a:solidFill>
                  <a:schemeClr val="bg1"/>
                </a:solidFill>
              </a:rPr>
              <a:t> de endpoints do </a:t>
            </a:r>
            <a:r>
              <a:rPr lang="en-US" sz="1400" dirty="0" err="1">
                <a:solidFill>
                  <a:schemeClr val="bg1"/>
                </a:solidFill>
              </a:rPr>
              <a:t>servidor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47" name="Picture 46" descr="A diagram of a company&#10;&#10;AI-generated content may be incorrect.">
            <a:extLst>
              <a:ext uri="{FF2B5EF4-FFF2-40B4-BE49-F238E27FC236}">
                <a16:creationId xmlns:a16="http://schemas.microsoft.com/office/drawing/2014/main" id="{19E59D6A-94C0-DC5F-308A-B56FD08FC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19404"/>
            <a:ext cx="5617874" cy="206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000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523366-CAA4-B1DF-7808-E5FD25BA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72CC17-B1F7-C3F5-3781-53B0456D184E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8887B1-15F3-24EB-FF87-B05F6DB61090}"/>
              </a:ext>
            </a:extLst>
          </p:cNvPr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 API de dados e Schemas Mongoose</a:t>
            </a:r>
            <a:endParaRPr lang="en-US" sz="2800" dirty="0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2F4CE170-2DDB-05EA-F017-909E7C1BE798}"/>
              </a:ext>
            </a:extLst>
          </p:cNvPr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BB54A324-2DBF-C584-734C-DBDF3344BC94}"/>
              </a:ext>
            </a:extLst>
          </p:cNvPr>
          <p:cNvSpPr/>
          <p:nvPr/>
        </p:nvSpPr>
        <p:spPr>
          <a:xfrm>
            <a:off x="457201" y="859535"/>
            <a:ext cx="3653406" cy="298262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Identificação</a:t>
            </a:r>
            <a:r>
              <a:rPr lang="en-US" sz="1400" dirty="0">
                <a:solidFill>
                  <a:schemeClr val="bg1"/>
                </a:solidFill>
              </a:rPr>
              <a:t> das </a:t>
            </a:r>
            <a:r>
              <a:rPr lang="en-US" sz="1400" dirty="0" err="1">
                <a:solidFill>
                  <a:schemeClr val="bg1"/>
                </a:solidFill>
              </a:rPr>
              <a:t>Coleções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Modelação</a:t>
            </a:r>
            <a:r>
              <a:rPr lang="en-US" sz="1400" dirty="0">
                <a:solidFill>
                  <a:schemeClr val="bg1"/>
                </a:solidFill>
              </a:rPr>
              <a:t> dos </a:t>
            </a:r>
            <a:r>
              <a:rPr lang="en-US" sz="1400" dirty="0" err="1">
                <a:solidFill>
                  <a:schemeClr val="bg1"/>
                </a:solidFill>
              </a:rPr>
              <a:t>atributos</a:t>
            </a:r>
            <a:r>
              <a:rPr lang="en-US" sz="1400" dirty="0">
                <a:solidFill>
                  <a:schemeClr val="bg1"/>
                </a:solidFill>
              </a:rPr>
              <a:t> e indices de </a:t>
            </a:r>
            <a:r>
              <a:rPr lang="en-US" sz="1400" dirty="0" err="1">
                <a:solidFill>
                  <a:schemeClr val="bg1"/>
                </a:solidFill>
              </a:rPr>
              <a:t>cada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coleção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Modelação</a:t>
            </a:r>
            <a:r>
              <a:rPr lang="en-US" sz="1400" dirty="0">
                <a:solidFill>
                  <a:schemeClr val="bg1"/>
                </a:solidFill>
              </a:rPr>
              <a:t> dos </a:t>
            </a:r>
            <a:r>
              <a:rPr lang="en-US" sz="1400" dirty="0" err="1">
                <a:solidFill>
                  <a:schemeClr val="bg1"/>
                </a:solidFill>
              </a:rPr>
              <a:t>relacionamentos</a:t>
            </a:r>
            <a:r>
              <a:rPr lang="en-US" sz="1400" dirty="0">
                <a:solidFill>
                  <a:schemeClr val="bg1"/>
                </a:solidFill>
              </a:rPr>
              <a:t> entre </a:t>
            </a:r>
            <a:r>
              <a:rPr lang="en-US" sz="1400" dirty="0" err="1">
                <a:solidFill>
                  <a:schemeClr val="bg1"/>
                </a:solidFill>
              </a:rPr>
              <a:t>coleções</a:t>
            </a:r>
            <a:r>
              <a:rPr lang="en-US" sz="1400" dirty="0">
                <a:solidFill>
                  <a:schemeClr val="bg1"/>
                </a:solidFill>
              </a:rPr>
              <a:t> (Referencing vs Embedding)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Modelação</a:t>
            </a:r>
            <a:r>
              <a:rPr lang="en-US" sz="1400" dirty="0">
                <a:solidFill>
                  <a:schemeClr val="bg1"/>
                </a:solidFill>
              </a:rPr>
              <a:t> dos schemas mongoose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bg1"/>
                </a:solidFill>
              </a:rPr>
              <a:t>Identificação</a:t>
            </a:r>
            <a:r>
              <a:rPr lang="en-US" sz="1400" dirty="0">
                <a:solidFill>
                  <a:schemeClr val="bg1"/>
                </a:solidFill>
              </a:rPr>
              <a:t> do </a:t>
            </a:r>
            <a:r>
              <a:rPr lang="en-US" sz="1400" dirty="0" err="1">
                <a:solidFill>
                  <a:schemeClr val="bg1"/>
                </a:solidFill>
              </a:rPr>
              <a:t>dicionário</a:t>
            </a:r>
            <a:r>
              <a:rPr lang="en-US" sz="1400" dirty="0">
                <a:solidFill>
                  <a:schemeClr val="bg1"/>
                </a:solidFill>
              </a:rPr>
              <a:t> de endpoints da API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3426CD-BA46-E4B9-9307-1EFC3E539D39}"/>
              </a:ext>
            </a:extLst>
          </p:cNvPr>
          <p:cNvSpPr/>
          <p:nvPr/>
        </p:nvSpPr>
        <p:spPr>
          <a:xfrm>
            <a:off x="4572000" y="859535"/>
            <a:ext cx="4154979" cy="29826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7" name="Picture 46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A6C6A1B8-529E-4CBA-0CDE-39E13CFC3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377" y="1077679"/>
            <a:ext cx="4154979" cy="254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161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F7AA3-5409-9572-A811-04E6E28C7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1F0886-3316-D462-80CB-568E66768DCD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3CD633-4A34-A53F-DF9F-377E44ACDCE8}"/>
              </a:ext>
            </a:extLst>
          </p:cNvPr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micro-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2800" dirty="0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9106CEAF-25E4-06ED-FB3C-3E0BE5076279}"/>
              </a:ext>
            </a:extLst>
          </p:cNvPr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8F24E759-4306-3A70-4E14-E95154876BE2}"/>
              </a:ext>
            </a:extLst>
          </p:cNvPr>
          <p:cNvSpPr/>
          <p:nvPr/>
        </p:nvSpPr>
        <p:spPr>
          <a:xfrm>
            <a:off x="457201" y="859535"/>
            <a:ext cx="3653406" cy="346329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Separação</a:t>
            </a:r>
            <a:r>
              <a:rPr lang="en-US" dirty="0">
                <a:solidFill>
                  <a:schemeClr val="bg1"/>
                </a:solidFill>
              </a:rPr>
              <a:t> de micro-</a:t>
            </a:r>
            <a:r>
              <a:rPr lang="en-US" dirty="0" err="1">
                <a:solidFill>
                  <a:schemeClr val="bg1"/>
                </a:solidFill>
              </a:rPr>
              <a:t>serviços</a:t>
            </a:r>
            <a:r>
              <a:rPr lang="en-US" dirty="0">
                <a:solidFill>
                  <a:schemeClr val="bg1"/>
                </a:solidFill>
              </a:rPr>
              <a:t> com 4 containers 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Orquestração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através</a:t>
            </a:r>
            <a:r>
              <a:rPr lang="en-US" dirty="0">
                <a:solidFill>
                  <a:schemeClr val="bg1"/>
                </a:solidFill>
              </a:rPr>
              <a:t> de docker compose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Portabilidade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Funcinalidade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todo</a:t>
            </a:r>
            <a:r>
              <a:rPr lang="en-US" dirty="0">
                <a:solidFill>
                  <a:schemeClr val="bg1"/>
                </a:solidFill>
              </a:rPr>
              <a:t> o Sistema </a:t>
            </a:r>
            <a:r>
              <a:rPr lang="en-US" dirty="0" err="1">
                <a:solidFill>
                  <a:schemeClr val="bg1"/>
                </a:solidFill>
              </a:rPr>
              <a:t>pode</a:t>
            </a:r>
            <a:r>
              <a:rPr lang="en-US" dirty="0">
                <a:solidFill>
                  <a:schemeClr val="bg1"/>
                </a:solidFill>
              </a:rPr>
              <a:t> ser </a:t>
            </a:r>
            <a:r>
              <a:rPr lang="en-US" dirty="0" err="1">
                <a:solidFill>
                  <a:schemeClr val="bg1"/>
                </a:solidFill>
              </a:rPr>
              <a:t>executado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partir</a:t>
            </a:r>
            <a:r>
              <a:rPr lang="en-US" dirty="0">
                <a:solidFill>
                  <a:schemeClr val="bg1"/>
                </a:solidFill>
              </a:rPr>
              <a:t> de 1 </a:t>
            </a:r>
            <a:r>
              <a:rPr lang="en-US" dirty="0" err="1">
                <a:solidFill>
                  <a:schemeClr val="bg1"/>
                </a:solidFill>
              </a:rPr>
              <a:t>comando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F5E1A1-C00C-8611-1C93-3298E3B68BE9}"/>
              </a:ext>
            </a:extLst>
          </p:cNvPr>
          <p:cNvSpPr/>
          <p:nvPr/>
        </p:nvSpPr>
        <p:spPr>
          <a:xfrm>
            <a:off x="4308437" y="859535"/>
            <a:ext cx="4576195" cy="3463290"/>
          </a:xfrm>
          <a:prstGeom prst="rect">
            <a:avLst/>
          </a:prstGeom>
          <a:solidFill>
            <a:srgbClr val="1E1E1E"/>
          </a:solidFill>
          <a:ln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5725D-ABFD-622F-D90C-467E796F33C5}"/>
              </a:ext>
            </a:extLst>
          </p:cNvPr>
          <p:cNvSpPr txBox="1"/>
          <p:nvPr/>
        </p:nvSpPr>
        <p:spPr>
          <a:xfrm>
            <a:off x="4308437" y="830526"/>
            <a:ext cx="4576195" cy="3139321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services:</a:t>
            </a: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</a:t>
            </a:r>
            <a:r>
              <a:rPr sz="1100" dirty="0" err="1">
                <a:solidFill>
                  <a:srgbClr val="D0E0E0"/>
                </a:solidFill>
                <a:latin typeface="Consolas"/>
              </a:rPr>
              <a:t>mongodb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  build: ./</a:t>
            </a:r>
            <a:r>
              <a:rPr lang="pt-PT" sz="1100" dirty="0" err="1">
                <a:solidFill>
                  <a:srgbClr val="D0E0E0"/>
                </a:solidFill>
                <a:latin typeface="Consolas"/>
              </a:rPr>
              <a:t>Database</a:t>
            </a:r>
            <a:endParaRPr sz="1100" dirty="0">
              <a:solidFill>
                <a:srgbClr val="D0E0E0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  volumes: [mongo-data:/data/</a:t>
            </a:r>
            <a:r>
              <a:rPr sz="1100" dirty="0" err="1">
                <a:solidFill>
                  <a:srgbClr val="D0E0E0"/>
                </a:solidFill>
                <a:latin typeface="Consolas"/>
              </a:rPr>
              <a:t>db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]</a:t>
            </a:r>
            <a:endParaRPr lang="pt-PT" sz="1100" dirty="0">
              <a:solidFill>
                <a:srgbClr val="D0E0E0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endParaRPr sz="1100" dirty="0">
              <a:solidFill>
                <a:srgbClr val="D0E0E0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data-</a:t>
            </a:r>
            <a:r>
              <a:rPr sz="1100" dirty="0" err="1">
                <a:solidFill>
                  <a:srgbClr val="D0E0E0"/>
                </a:solidFill>
                <a:latin typeface="Consolas"/>
              </a:rPr>
              <a:t>api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  build: ./</a:t>
            </a:r>
            <a:r>
              <a:rPr lang="pt-PT" sz="1100" dirty="0" err="1">
                <a:solidFill>
                  <a:srgbClr val="D0E0E0"/>
                </a:solidFill>
                <a:latin typeface="Consolas"/>
              </a:rPr>
              <a:t>Database</a:t>
            </a:r>
            <a:endParaRPr sz="1100" dirty="0">
              <a:solidFill>
                <a:srgbClr val="D0E0E0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D0E0E0"/>
                </a:solidFill>
                <a:latin typeface="Consolas"/>
              </a:rPr>
              <a:t>depends_on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: [</a:t>
            </a:r>
            <a:r>
              <a:rPr sz="1100" dirty="0" err="1">
                <a:solidFill>
                  <a:srgbClr val="D0E0E0"/>
                </a:solidFill>
                <a:latin typeface="Consolas"/>
              </a:rPr>
              <a:t>mongodb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]</a:t>
            </a:r>
            <a:endParaRPr lang="en-US" sz="1100" dirty="0">
              <a:solidFill>
                <a:srgbClr val="D0E0E0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D0E0E0"/>
                </a:solidFill>
                <a:latin typeface="Consolas"/>
              </a:rPr>
              <a:t>    ports: “${DATA_API_PORT}:3001”</a:t>
            </a:r>
          </a:p>
          <a:p>
            <a:pPr>
              <a:lnSpc>
                <a:spcPct val="100000"/>
              </a:lnSpc>
            </a:pPr>
            <a:endParaRPr lang="en-US" sz="1100" dirty="0">
              <a:solidFill>
                <a:srgbClr val="D0E0E0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</a:t>
            </a:r>
            <a:r>
              <a:rPr lang="pt-PT" sz="1100" dirty="0" err="1">
                <a:solidFill>
                  <a:srgbClr val="D0E0E0"/>
                </a:solidFill>
                <a:latin typeface="Consolas"/>
              </a:rPr>
              <a:t>ln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  build: ./</a:t>
            </a:r>
            <a:r>
              <a:rPr lang="pt-PT" sz="1100" dirty="0" err="1">
                <a:solidFill>
                  <a:srgbClr val="D0E0E0"/>
                </a:solidFill>
                <a:latin typeface="Consolas"/>
              </a:rPr>
              <a:t>Backend</a:t>
            </a:r>
            <a:endParaRPr sz="1100" dirty="0">
              <a:solidFill>
                <a:srgbClr val="D0E0E0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D0E0E0"/>
                </a:solidFill>
                <a:latin typeface="Consolas"/>
              </a:rPr>
              <a:t>depends_on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: [data-</a:t>
            </a:r>
            <a:r>
              <a:rPr sz="1100" dirty="0" err="1">
                <a:solidFill>
                  <a:srgbClr val="D0E0E0"/>
                </a:solidFill>
                <a:latin typeface="Consolas"/>
              </a:rPr>
              <a:t>api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  </a:t>
            </a:r>
            <a:r>
              <a:rPr lang="pt-PT" sz="1100" dirty="0" err="1">
                <a:solidFill>
                  <a:srgbClr val="D0E0E0"/>
                </a:solidFill>
                <a:latin typeface="Consolas"/>
              </a:rPr>
              <a:t>ports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: </a:t>
            </a:r>
            <a:r>
              <a:rPr lang="en-US" sz="1100" dirty="0">
                <a:solidFill>
                  <a:srgbClr val="D0E0E0"/>
                </a:solidFill>
                <a:latin typeface="Consolas"/>
              </a:rPr>
              <a:t>“${LN_API_PORT}:3001”</a:t>
            </a:r>
          </a:p>
          <a:p>
            <a:pPr>
              <a:lnSpc>
                <a:spcPct val="100000"/>
              </a:lnSpc>
            </a:pPr>
            <a:endParaRPr sz="1100" dirty="0">
              <a:solidFill>
                <a:srgbClr val="D0E0E0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</a:t>
            </a:r>
            <a:r>
              <a:rPr lang="pt-PT" sz="1100" dirty="0" err="1">
                <a:solidFill>
                  <a:srgbClr val="D0E0E0"/>
                </a:solidFill>
                <a:latin typeface="Consolas"/>
              </a:rPr>
              <a:t>frontend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</a:pPr>
            <a:r>
              <a:rPr sz="1100" dirty="0">
                <a:solidFill>
                  <a:srgbClr val="D0E0E0"/>
                </a:solidFill>
                <a:latin typeface="Consolas"/>
              </a:rPr>
              <a:t>    build: ./</a:t>
            </a:r>
            <a:r>
              <a:rPr lang="pt-PT" sz="1100" dirty="0" err="1">
                <a:solidFill>
                  <a:srgbClr val="D0E0E0"/>
                </a:solidFill>
                <a:latin typeface="Consolas"/>
              </a:rPr>
              <a:t>Frontend</a:t>
            </a:r>
            <a:endParaRPr sz="1100" dirty="0">
              <a:solidFill>
                <a:srgbClr val="D0E0E0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lang="pt-PT" sz="1100" dirty="0">
                <a:solidFill>
                  <a:srgbClr val="D0E0E0"/>
                </a:solidFill>
                <a:latin typeface="Consolas"/>
              </a:rPr>
              <a:t>    </a:t>
            </a:r>
            <a:r>
              <a:rPr lang="pt-PT" sz="1100" dirty="0" err="1">
                <a:solidFill>
                  <a:srgbClr val="D0E0E0"/>
                </a:solidFill>
                <a:latin typeface="Consolas"/>
              </a:rPr>
              <a:t>ports</a:t>
            </a:r>
            <a:r>
              <a:rPr sz="1100" dirty="0">
                <a:solidFill>
                  <a:srgbClr val="D0E0E0"/>
                </a:solidFill>
                <a:latin typeface="Consolas"/>
              </a:rPr>
              <a:t>:</a:t>
            </a:r>
            <a:r>
              <a:rPr lang="pt-PT" sz="1100" dirty="0">
                <a:solidFill>
                  <a:srgbClr val="D0E0E0"/>
                </a:solidFill>
                <a:latin typeface="Consolas"/>
              </a:rPr>
              <a:t>”3000:3000"</a:t>
            </a:r>
            <a:endParaRPr sz="1100" dirty="0">
              <a:solidFill>
                <a:srgbClr val="D0E0E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657609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Controlo de Acessos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371600" cy="100584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NIF/Nº Mecan.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417320"/>
            <a:ext cx="347472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93392" y="960120"/>
            <a:ext cx="1371600" cy="100584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93392" y="9875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93392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hash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64992" y="1417320"/>
            <a:ext cx="347472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12464" y="960120"/>
            <a:ext cx="1371600" cy="100584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12464" y="9875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12464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2464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HMAC-SHA256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84064" y="1417320"/>
            <a:ext cx="347472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31536" y="960120"/>
            <a:ext cx="1371600" cy="100584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31536" y="9875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31536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31536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por cargo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03136" y="1417320"/>
            <a:ext cx="347472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50608" y="960120"/>
            <a:ext cx="1371600" cy="100584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50608" y="9875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50608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50608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8h, logout limpa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5146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560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2560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560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Principais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2907792"/>
            <a:ext cx="8595360" cy="393192"/>
          </a:xfrm>
          <a:prstGeom prst="rect">
            <a:avLst/>
          </a:prstGeom>
          <a:solidFill>
            <a:srgbClr val="1921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29443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286000" y="29443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/FixNRide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29443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Agendamento, faturas, catálogo, Click &amp; Collect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319272"/>
            <a:ext cx="8595360" cy="393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33558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86000" y="33558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/FixNSell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33558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Vendas, entregas, encomendas, faturação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730752"/>
            <a:ext cx="8595360" cy="393192"/>
          </a:xfrm>
          <a:prstGeom prst="rect">
            <a:avLst/>
          </a:prstGeom>
          <a:solidFill>
            <a:srgbClr val="1921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37673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MECÂNICO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286000" y="37673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/FixNRepair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54880" y="3767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diagnósticos, peças, estado serviços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4142232"/>
            <a:ext cx="8595360" cy="393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1788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286000" y="41788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/FixNManage + </a:t>
            </a: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restantes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54880" y="41788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total: utilizadores, stock, KPIs, promoções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8FBA7D-ECF4-C339-AF13-82AB0055F59E}"/>
              </a:ext>
            </a:extLst>
          </p:cNvPr>
          <p:cNvSpPr txBox="1"/>
          <p:nvPr/>
        </p:nvSpPr>
        <p:spPr>
          <a:xfrm>
            <a:off x="274320" y="4636008"/>
            <a:ext cx="85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Web, </a:t>
            </a:r>
            <a:r>
              <a:rPr lang="en-US" dirty="0" err="1">
                <a:solidFill>
                  <a:schemeClr val="bg1"/>
                </a:solidFill>
              </a:rPr>
              <a:t>Lógica</a:t>
            </a:r>
            <a:r>
              <a:rPr lang="en-US" dirty="0">
                <a:solidFill>
                  <a:schemeClr val="bg1"/>
                </a:solidFill>
              </a:rPr>
              <a:t> de Negócios e API de dados </a:t>
            </a:r>
            <a:r>
              <a:rPr lang="en-US" dirty="0" err="1">
                <a:solidFill>
                  <a:schemeClr val="bg1"/>
                </a:solidFill>
              </a:rPr>
              <a:t>implementam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Autorização</a:t>
            </a:r>
            <a:r>
              <a:rPr lang="en-US" dirty="0">
                <a:solidFill>
                  <a:schemeClr val="bg1"/>
                </a:solidFill>
              </a:rPr>
              <a:t> e </a:t>
            </a:r>
            <a:r>
              <a:rPr lang="en-US" b="1" dirty="0" err="1">
                <a:solidFill>
                  <a:schemeClr val="bg1"/>
                </a:solidFill>
              </a:rPr>
              <a:t>Autenticação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 - IA Dev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182880"/>
            <a:ext cx="8229600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sz="2800" b="1" dirty="0">
                <a:solidFill>
                  <a:srgbClr val="FFFFFF"/>
                </a:solidFill>
                <a:latin typeface="Calibri" pitchFamily="34" charset="0"/>
              </a:rPr>
              <a:t>3ª Fase: Desenvolvimento com Recurso a IA</a:t>
            </a:r>
          </a:p>
        </p:txBody>
      </p:sp>
      <p:sp>
        <p:nvSpPr>
          <p:cNvPr id="4" name="Ref"/>
          <p:cNvSpPr/>
          <p:nvPr/>
        </p:nvSpPr>
        <p:spPr>
          <a:xfrm>
            <a:off x="457200" y="720000"/>
            <a:ext cx="8229600" cy="2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PT" sz="1000" i="1" dirty="0">
                <a:solidFill>
                  <a:srgbClr val="64748B"/>
                </a:solidFill>
                <a:latin typeface="Calibri" pitchFamily="34" charset="0"/>
              </a:rPr>
              <a:t>Cap. 8 do Relatório — Geração de Código com Recurso a Inteligência Artificial</a:t>
            </a:r>
          </a:p>
        </p:txBody>
      </p:sp>
      <p:sp>
        <p:nvSpPr>
          <p:cNvPr id="10" name="Left Card"/>
          <p:cNvSpPr/>
          <p:nvPr/>
        </p:nvSpPr>
        <p:spPr>
          <a:xfrm>
            <a:off x="274320" y="1090000"/>
            <a:ext cx="4114800" cy="36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Left Title Bar"/>
          <p:cNvSpPr/>
          <p:nvPr/>
        </p:nvSpPr>
        <p:spPr>
          <a:xfrm>
            <a:off x="274320" y="1090000"/>
            <a:ext cx="4114800" cy="54864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Left Card Content"/>
          <p:cNvSpPr/>
          <p:nvPr/>
        </p:nvSpPr>
        <p:spPr>
          <a:xfrm>
            <a:off x="411480" y="1160000"/>
            <a:ext cx="3840480" cy="34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PT" sz="1400" b="1" dirty="0">
                <a:solidFill>
                  <a:srgbClr val="0EA5E9"/>
                </a:solidFill>
                <a:latin typeface="Calibri" pitchFamily="34" charset="0"/>
              </a:rPr>
              <a:t>Modelo e Estratégia</a:t>
            </a:r>
          </a:p>
          <a:p>
            <a:pPr marL="0" indent="0">
              <a:buNone/>
            </a:pPr>
            <a:r>
              <a:rPr lang="pt-PT" sz="1050" dirty="0">
                <a:solidFill>
                  <a:srgbClr val="E2E8F0"/>
                </a:solidFill>
                <a:latin typeface="Calibri" pitchFamily="34" charset="0"/>
              </a:rPr>
              <a:t>Claude Sonnet 4.6 (Anthropic) via Claude Code (VS Code)</a:t>
            </a:r>
          </a:p>
          <a:p>
            <a:pPr marL="0" indent="0">
              <a:buNone/>
            </a:pPr>
            <a:endParaRPr lang="pt-PT" sz="1050" dirty="0"/>
          </a:p>
          <a:p>
            <a:pPr marL="0" indent="0">
              <a:buNone/>
            </a:pPr>
            <a:r>
              <a:rPr lang="pt-PT" sz="1200" b="1" dirty="0">
                <a:solidFill>
                  <a:srgbClr val="FFFFFF"/>
                </a:solidFill>
                <a:latin typeface="Calibri" pitchFamily="34" charset="0"/>
              </a:rPr>
              <a:t>Fragmentação por Sessões</a:t>
            </a:r>
          </a:p>
          <a:p>
            <a:pPr marL="0" indent="0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Sessões isoladas por microsserviço para evitar degradação da janela de contexto. Cada sessão iniciada com system brief estruturado (arquitetura + Schemas + endpoints + regras de negócio).</a:t>
            </a:r>
          </a:p>
          <a:p>
            <a:pPr marL="0" indent="0">
              <a:buNone/>
            </a:pPr>
            <a:endParaRPr lang="pt-PT" sz="1000" dirty="0"/>
          </a:p>
          <a:p>
            <a:pPr marL="0" indent="0">
              <a:buNone/>
            </a:pPr>
            <a:r>
              <a:rPr lang="pt-PT" sz="1200" b="1" dirty="0">
                <a:solidFill>
                  <a:srgbClr val="FFFFFF"/>
                </a:solidFill>
                <a:latin typeface="Calibri" pitchFamily="34" charset="0"/>
              </a:rPr>
              <a:t>Taxonomia de 3 Tipos</a:t>
            </a:r>
          </a:p>
          <a:p>
            <a:pPr marL="0" indent="0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Sessões de camada • Sessões de módulo • Sessões de correção cirúrgica</a:t>
            </a:r>
          </a:p>
          <a:p>
            <a:pPr marL="0" indent="0">
              <a:buNone/>
            </a:pPr>
            <a:endParaRPr lang="pt-PT" sz="1000" dirty="0"/>
          </a:p>
          <a:p>
            <a:pPr marL="0" indent="0">
              <a:buNone/>
            </a:pPr>
            <a:r>
              <a:rPr lang="pt-PT" sz="1200" b="1" dirty="0">
                <a:solidFill>
                  <a:srgbClr val="FFFFFF"/>
                </a:solidFill>
                <a:latin typeface="Calibri" pitchFamily="34" charset="0"/>
              </a:rPr>
              <a:t>Cobertura por Camada</a:t>
            </a:r>
          </a:p>
          <a:p>
            <a:pPr marL="0" indent="0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Schemas Mongoose • Controllers Node.js • Services .NET • Componentes React + TanStack Query</a:t>
            </a:r>
          </a:p>
        </p:txBody>
      </p:sp>
      <p:sp>
        <p:nvSpPr>
          <p:cNvPr id="20" name="Right Card"/>
          <p:cNvSpPr/>
          <p:nvPr/>
        </p:nvSpPr>
        <p:spPr>
          <a:xfrm>
            <a:off x="4754880" y="1090000"/>
            <a:ext cx="4114800" cy="36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Right Title Bar"/>
          <p:cNvSpPr/>
          <p:nvPr/>
        </p:nvSpPr>
        <p:spPr>
          <a:xfrm>
            <a:off x="4754880" y="1090000"/>
            <a:ext cx="4114800" cy="54864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ight Card Content"/>
          <p:cNvSpPr/>
          <p:nvPr/>
        </p:nvSpPr>
        <p:spPr>
          <a:xfrm>
            <a:off x="4892040" y="1160000"/>
            <a:ext cx="3840480" cy="34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PT" sz="1400" b="1" dirty="0">
                <a:solidFill>
                  <a:srgbClr val="6366F1"/>
                </a:solidFill>
                <a:latin typeface="Calibri" pitchFamily="34" charset="0"/>
              </a:rPr>
              <a:t>Análise Crítica</a:t>
            </a:r>
          </a:p>
          <a:p>
            <a:pPr marL="0" indent="0">
              <a:buNone/>
            </a:pPr>
            <a:endParaRPr lang="pt-PT" sz="900" dirty="0"/>
          </a:p>
          <a:p>
            <a:pPr marL="0" indent="0">
              <a:buNone/>
            </a:pPr>
            <a:r>
              <a:rPr lang="pt-PT" sz="1100" b="1" dirty="0">
                <a:solidFill>
                  <a:srgbClr val="22C55E"/>
                </a:solidFill>
                <a:latin typeface="Calibri" pitchFamily="34" charset="0"/>
              </a:rPr>
              <a:t>✓ Vantagens</a:t>
            </a:r>
          </a:p>
          <a:p>
            <a:pPr marL="0" indent="0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Redução de 40–50% no tempo de implementação por camada. Código de qualidade estrutural consistente. Transferência implícita de conhecimento. Deteção proativa de lacunas de especificação.</a:t>
            </a:r>
          </a:p>
          <a:p>
            <a:pPr marL="0" indent="0">
              <a:buNone/>
            </a:pPr>
            <a:endParaRPr lang="pt-PT" sz="900" dirty="0"/>
          </a:p>
          <a:p>
            <a:pPr marL="0" indent="0">
              <a:buNone/>
            </a:pPr>
            <a:r>
              <a:rPr lang="pt-PT" sz="1100" b="1" dirty="0">
                <a:solidFill>
                  <a:srgbClr val="EF4444"/>
                </a:solidFill>
                <a:latin typeface="Calibri" pitchFamily="34" charset="0"/>
              </a:rPr>
              <a:t>✗ Limitações</a:t>
            </a:r>
          </a:p>
          <a:p>
            <a:pPr marL="0" indent="0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Dependência da qualidade do prompt. Riscos de alucinações (código plausível mas incorreto). Tendência para soluções genéricas. Sem visão sistémica entre sessões.</a:t>
            </a:r>
          </a:p>
          <a:p>
            <a:pPr marL="0" indent="0">
              <a:buNone/>
            </a:pPr>
            <a:endParaRPr lang="pt-PT" sz="900" dirty="0"/>
          </a:p>
          <a:p>
            <a:pPr marL="0" indent="0">
              <a:buNone/>
            </a:pPr>
            <a:r>
              <a:rPr lang="pt-PT" sz="1100" b="1" dirty="0">
                <a:solidFill>
                  <a:srgbClr val="F59E0B"/>
                </a:solidFill>
                <a:latin typeface="Calibri" pitchFamily="34" charset="0"/>
              </a:rPr>
              <a:t>ⓘ Code Smells Detetados</a:t>
            </a:r>
          </a:p>
          <a:p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• </a:t>
            </a:r>
            <a:r>
              <a:rPr lang="pt-PT" sz="1000" dirty="0" err="1">
                <a:solidFill>
                  <a:srgbClr val="94A3B8"/>
                </a:solidFill>
                <a:latin typeface="Calibri" pitchFamily="34" charset="0"/>
              </a:rPr>
              <a:t>parseJwt</a:t>
            </a: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 duplicado (×5) </a:t>
            </a:r>
          </a:p>
          <a:p>
            <a:pPr marL="0" indent="0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• alert() nativo em vez de toasts </a:t>
            </a:r>
          </a:p>
          <a:p>
            <a:pPr marL="0" indent="0">
              <a:buNone/>
            </a:pPr>
            <a:r>
              <a:rPr lang="pt-PT" sz="1000" dirty="0">
                <a:solidFill>
                  <a:srgbClr val="94A3B8"/>
                </a:solidFill>
                <a:latin typeface="Calibri" pitchFamily="34" charset="0"/>
              </a:rPr>
              <a:t>• mapeamentos defensivos excessivos</a:t>
            </a:r>
          </a:p>
        </p:txBody>
      </p:sp>
      <p:sp>
        <p:nvSpPr>
          <p:cNvPr id="30" name="Quote"/>
          <p:cNvSpPr/>
          <p:nvPr/>
        </p:nvSpPr>
        <p:spPr>
          <a:xfrm>
            <a:off x="274320" y="4790000"/>
            <a:ext cx="859536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1000" i="1" dirty="0">
                <a:solidFill>
                  <a:srgbClr val="64748B"/>
                </a:solidFill>
                <a:latin typeface="Calibri" pitchFamily="34" charset="0"/>
              </a:rPr>
              <a:t>“A IA funcionou como amplificador de capacidade — não como substituto do engenheiro de software.”</a:t>
            </a:r>
          </a:p>
        </p:txBody>
      </p:sp>
      <p:sp>
        <p:nvSpPr>
          <p:cNvPr id="31" name="BottomBar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4ª Fase: Verificação, Validação &amp; Qualidade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9377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5760" y="950976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Testes de Stress — Postman Performance – API de dados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93776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8930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128930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28930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52928" y="128930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28930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61688" y="128930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627632"/>
            <a:ext cx="4937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65506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27632" y="16550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165506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52928" y="165506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16550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11ms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61688" y="165506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993392"/>
            <a:ext cx="4937760" cy="347472"/>
          </a:xfrm>
          <a:prstGeom prst="rect">
            <a:avLst/>
          </a:prstGeom>
          <a:solidFill>
            <a:srgbClr val="192133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02082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Moderada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27632" y="202082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202082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16ms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52928" y="202082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19ms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202082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31ms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61688" y="202082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359152"/>
            <a:ext cx="4937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38658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Pico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27632" y="238658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48840" y="238658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39ms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52928" y="238658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46ms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0" y="238658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76ms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61688" y="238658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761488"/>
            <a:ext cx="49377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2798064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ISO/IEC 25010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3154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Funcional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947672" y="3154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35387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947672" y="35387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0040" y="392277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Manutenibilidade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947672" y="39227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0040" y="430682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947672" y="430682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926080" y="31546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53712" y="31546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Adequada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926080" y="35387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53712" y="35387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926080" y="392277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53712" y="39227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Suf. Dev.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0" y="914400"/>
            <a:ext cx="333756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7784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Testes</a:t>
            </a:r>
            <a:endParaRPr lang="en-US" sz="1300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371600"/>
            <a:ext cx="256032" cy="256032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5961888" y="1344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(Postman)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961888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API completa</a:t>
            </a:r>
            <a:endParaRPr lang="en-US" sz="1000" dirty="0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901952"/>
            <a:ext cx="256032" cy="256032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5961888" y="1874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(Manual)</a:t>
            </a:r>
            <a:endParaRPr lang="en-US" sz="1100" dirty="0"/>
          </a:p>
        </p:txBody>
      </p:sp>
      <p:sp>
        <p:nvSpPr>
          <p:cNvPr id="57" name="Text 53"/>
          <p:cNvSpPr/>
          <p:nvPr/>
        </p:nvSpPr>
        <p:spPr>
          <a:xfrm>
            <a:off x="5961888" y="21305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perfis</a:t>
            </a:r>
            <a:endParaRPr lang="en-US" sz="1000" dirty="0"/>
          </a:p>
        </p:txBody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432304"/>
            <a:ext cx="256032" cy="256032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5961888" y="2404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Aceitação</a:t>
            </a:r>
            <a:endParaRPr lang="en-US" sz="1100" dirty="0"/>
          </a:p>
        </p:txBody>
      </p:sp>
      <p:sp>
        <p:nvSpPr>
          <p:cNvPr id="60" name="Text 55"/>
          <p:cNvSpPr/>
          <p:nvPr/>
        </p:nvSpPr>
        <p:spPr>
          <a:xfrm>
            <a:off x="5961888" y="26609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casos de teste</a:t>
            </a:r>
            <a:endParaRPr lang="en-US" sz="1000" dirty="0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962656"/>
            <a:ext cx="256032" cy="256032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5961888" y="2935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(Postman Perf.)</a:t>
            </a:r>
            <a:endParaRPr lang="en-US" sz="1100" dirty="0"/>
          </a:p>
        </p:txBody>
      </p:sp>
      <p:sp>
        <p:nvSpPr>
          <p:cNvPr id="63" name="Text 57"/>
          <p:cNvSpPr/>
          <p:nvPr/>
        </p:nvSpPr>
        <p:spPr>
          <a:xfrm>
            <a:off x="5961888" y="31912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 20, 50 VUs</a:t>
            </a:r>
            <a:endParaRPr lang="en-US" sz="1000" dirty="0"/>
          </a:p>
        </p:txBody>
      </p:sp>
      <p:sp>
        <p:nvSpPr>
          <p:cNvPr id="67" name="Shape 6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&amp; Trabalho Futuro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5097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Objetivos Cumpridos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16736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298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22/22 requisitos funcionais implementados e validados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00784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6824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4 camadas Docker — totalmente funcional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84832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" y="20665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portais React por perfil de utilizador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46888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0080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integração ponta-a-ponta (Postman)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52928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&lt; 46ms a 50 utilizadores concorrentes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36976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40080" y="3218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crítica sobre uso de LLMs no SDLC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663440" y="914400"/>
            <a:ext cx="41605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1"/>
          <p:cNvSpPr/>
          <p:nvPr/>
        </p:nvSpPr>
        <p:spPr>
          <a:xfrm>
            <a:off x="4754880" y="95097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Trabalho Futuro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4663440" y="1394460"/>
            <a:ext cx="685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4663440" y="1429347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750" dirty="0"/>
          </a:p>
        </p:txBody>
      </p:sp>
      <p:sp>
        <p:nvSpPr>
          <p:cNvPr id="25" name="Text 17"/>
          <p:cNvSpPr/>
          <p:nvPr/>
        </p:nvSpPr>
        <p:spPr>
          <a:xfrm>
            <a:off x="5394960" y="1377243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refresh tokens (sessões longas)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4663440" y="1806558"/>
            <a:ext cx="685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4663440" y="181570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5413248" y="1797414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code smells remanescentes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4663440" y="2181462"/>
            <a:ext cx="685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4663440" y="219060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5394960" y="2210624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nativa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mecânico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4663440" y="2556366"/>
            <a:ext cx="6858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4663440" y="256551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5394960" y="2574654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MB WAY / Multibanco online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5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5146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520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–build -d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1266</Words>
  <Application>Microsoft Macintosh PowerPoint</Application>
  <PresentationFormat>On-screen Show (16:9)</PresentationFormat>
  <Paragraphs>297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Fix'n'Ride — MobiFix</dc:title>
  <dc:subject>PptxGenJS Presentation</dc:subject>
  <dc:creator>PptxGenJS</dc:creator>
  <cp:lastModifiedBy>Diogo Esteves</cp:lastModifiedBy>
  <cp:revision>41</cp:revision>
  <dcterms:created xsi:type="dcterms:W3CDTF">2026-05-06T21:49:26Z</dcterms:created>
  <dcterms:modified xsi:type="dcterms:W3CDTF">2026-05-13T17:25:59Z</dcterms:modified>
</cp:coreProperties>
</file>